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93" r:id="rId8"/>
    <p:sldId id="294" r:id="rId9"/>
    <p:sldId id="281" r:id="rId10"/>
    <p:sldId id="282" r:id="rId11"/>
    <p:sldId id="291" r:id="rId12"/>
    <p:sldId id="284" r:id="rId13"/>
    <p:sldId id="28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5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133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1691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021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144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936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9543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874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4301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7369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1152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5368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7827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9289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0985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6358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49213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57E92EE-8C3F-4B2F-AE68-8260C4617943}" type="datetimeFigureOut">
              <a:rPr lang="es-PE" smtClean="0"/>
              <a:t>23/06/2026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3A958A2-8A8E-47C5-82C4-68CEA5C5E7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389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1" y="265471"/>
            <a:ext cx="2458065" cy="245806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5B1BED2-CC67-593E-BEF1-13785C87D493}"/>
              </a:ext>
            </a:extLst>
          </p:cNvPr>
          <p:cNvSpPr txBox="1"/>
          <p:nvPr/>
        </p:nvSpPr>
        <p:spPr>
          <a:xfrm>
            <a:off x="2079366" y="901968"/>
            <a:ext cx="53690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Proyecto</a:t>
            </a:r>
            <a:r>
              <a:rPr lang="es-PE" sz="2800" dirty="0">
                <a:latin typeface="Arial Rounded MT Bold" panose="020F0704030504030204" pitchFamily="34" charset="0"/>
              </a:rPr>
              <a:t>: DIEFIT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39194B-B4D7-50D7-8C53-A9C782F65E12}"/>
              </a:ext>
            </a:extLst>
          </p:cNvPr>
          <p:cNvSpPr txBox="1"/>
          <p:nvPr/>
        </p:nvSpPr>
        <p:spPr>
          <a:xfrm>
            <a:off x="1548271" y="2134026"/>
            <a:ext cx="64312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Curso</a:t>
            </a:r>
            <a:r>
              <a:rPr lang="es-MX" sz="2800" dirty="0">
                <a:latin typeface="Arial Rounded MT Bold" panose="020F0704030504030204" pitchFamily="34" charset="0"/>
              </a:rPr>
              <a:t>: Desarrollo de Aplicaciones Móviles I</a:t>
            </a:r>
            <a:endParaRPr lang="es-PE" sz="2800" dirty="0">
              <a:latin typeface="Arial Rounded MT Bold" panose="020F07040305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E29229-151C-6738-8759-04F90B23B36E}"/>
              </a:ext>
            </a:extLst>
          </p:cNvPr>
          <p:cNvSpPr txBox="1"/>
          <p:nvPr/>
        </p:nvSpPr>
        <p:spPr>
          <a:xfrm>
            <a:off x="1376209" y="3567975"/>
            <a:ext cx="82154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Profesor</a:t>
            </a:r>
            <a:r>
              <a:rPr lang="es-MX" sz="2800" dirty="0">
                <a:latin typeface="Arial Rounded MT Bold" panose="020F0704030504030204" pitchFamily="34" charset="0"/>
              </a:rPr>
              <a:t>: Bryant Alejandro Yacila Valenzuela</a:t>
            </a:r>
            <a:endParaRPr lang="es-PE" sz="2800" dirty="0">
              <a:latin typeface="Arial Rounded MT Bold" panose="020F07040305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5627E33-1E30-0E91-5009-E86EC049B879}"/>
              </a:ext>
            </a:extLst>
          </p:cNvPr>
          <p:cNvSpPr txBox="1"/>
          <p:nvPr/>
        </p:nvSpPr>
        <p:spPr>
          <a:xfrm>
            <a:off x="1548271" y="4571037"/>
            <a:ext cx="833867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Integrantes</a:t>
            </a:r>
            <a:r>
              <a:rPr lang="es-PE" sz="2800" dirty="0">
                <a:latin typeface="Arial Rounded MT Bold" panose="020F07040305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800" dirty="0">
                <a:latin typeface="Arial Rounded MT Bold" panose="020F0704030504030204" pitchFamily="34" charset="0"/>
              </a:rPr>
              <a:t> Rodney Alexis Ruiz Carrasco 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800" dirty="0">
                <a:latin typeface="Arial Rounded MT Bold" panose="020F0704030504030204" pitchFamily="34" charset="0"/>
              </a:rPr>
              <a:t> Javier </a:t>
            </a:r>
            <a:r>
              <a:rPr lang="es-PE" sz="2800" dirty="0" err="1">
                <a:latin typeface="Arial Rounded MT Bold" panose="020F0704030504030204" pitchFamily="34" charset="0"/>
              </a:rPr>
              <a:t>Jeanpool</a:t>
            </a:r>
            <a:r>
              <a:rPr lang="es-PE" sz="2800" dirty="0">
                <a:latin typeface="Arial Rounded MT Bold" panose="020F0704030504030204" pitchFamily="34" charset="0"/>
              </a:rPr>
              <a:t> Borja Samaniego</a:t>
            </a:r>
          </a:p>
        </p:txBody>
      </p:sp>
    </p:spTree>
    <p:extLst>
      <p:ext uri="{BB962C8B-B14F-4D97-AF65-F5344CB8AC3E}">
        <p14:creationId xmlns:p14="http://schemas.microsoft.com/office/powerpoint/2010/main" val="3181462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F8B6608-8801-422F-B3E1-7EB07665D69E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184A66E-F359-4C31-8B4F-9A93A6026D78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8CEEA2-0692-4FD9-971C-83FBC054221E}"/>
              </a:ext>
            </a:extLst>
          </p:cNvPr>
          <p:cNvSpPr txBox="1"/>
          <p:nvPr/>
        </p:nvSpPr>
        <p:spPr>
          <a:xfrm>
            <a:off x="381000" y="0"/>
            <a:ext cx="11430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2200" b="1">
                <a:solidFill>
                  <a:srgbClr val="FFFFFF"/>
                </a:solidFill>
              </a:rPr>
              <a:t>¿Qué es Diefit?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FEC7040-B3D5-4C16-901C-22F7D467F609}"/>
              </a:ext>
            </a:extLst>
          </p:cNvPr>
          <p:cNvSpPr/>
          <p:nvPr/>
        </p:nvSpPr>
        <p:spPr>
          <a:xfrm>
            <a:off x="635000" y="1041400"/>
            <a:ext cx="4953000" cy="5461000"/>
          </a:xfrm>
          <a:prstGeom prst="round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B86651-6FA8-444B-8172-9F1EA99A36A0}"/>
              </a:ext>
            </a:extLst>
          </p:cNvPr>
          <p:cNvSpPr txBox="1"/>
          <p:nvPr/>
        </p:nvSpPr>
        <p:spPr>
          <a:xfrm>
            <a:off x="825500" y="1219200"/>
            <a:ext cx="457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2000" b="1">
                <a:solidFill>
                  <a:srgbClr val="FFFFFF"/>
                </a:solidFill>
              </a:rPr>
              <a:t>App Móvil
de Bienestar Personal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C068F91-C185-4D1B-AE72-0000E95CBA2E}"/>
              </a:ext>
            </a:extLst>
          </p:cNvPr>
          <p:cNvSpPr txBox="1"/>
          <p:nvPr/>
        </p:nvSpPr>
        <p:spPr>
          <a:xfrm>
            <a:off x="825500" y="2362200"/>
            <a:ext cx="45720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500">
                <a:solidFill>
                  <a:srgbClr val="FFFFFF"/>
                </a:solidFill>
              </a:rPr>
              <a:t>Desarrollada en Kotlin con Android Studio, Diefit es una aplicación gratuita que ayuda a los usuarios a monitorear su peso corporal, registrar su ingesta calórica diaria y gestionar rutinas de actividad física, todo desde su dispositivo Android.</a:t>
            </a:r>
            <a:endParaRPr lang="es-PE" sz="1500">
              <a:solidFill>
                <a:srgbClr val="FFFFFF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C97F8C1-240D-4753-B03A-66B10E71EA00}"/>
              </a:ext>
            </a:extLst>
          </p:cNvPr>
          <p:cNvSpPr txBox="1"/>
          <p:nvPr/>
        </p:nvSpPr>
        <p:spPr>
          <a:xfrm>
            <a:off x="825500" y="5943600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 b="1">
                <a:solidFill>
                  <a:srgbClr val="4472C4"/>
                </a:solidFill>
              </a:rPr>
              <a:t>Gratuita · Android · Kotlin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45CADC6-3AE3-419E-A5DE-91A9C98C4D4A}"/>
              </a:ext>
            </a:extLst>
          </p:cNvPr>
          <p:cNvSpPr/>
          <p:nvPr/>
        </p:nvSpPr>
        <p:spPr>
          <a:xfrm>
            <a:off x="5867400" y="1041400"/>
            <a:ext cx="5689600" cy="965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CA6098-32DE-440F-9C82-D0ECA00D0443}"/>
              </a:ext>
            </a:extLst>
          </p:cNvPr>
          <p:cNvSpPr/>
          <p:nvPr/>
        </p:nvSpPr>
        <p:spPr>
          <a:xfrm>
            <a:off x="5867400" y="1041400"/>
            <a:ext cx="63500" cy="965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164C53-B38D-4CFC-8F7E-06637471B267}"/>
              </a:ext>
            </a:extLst>
          </p:cNvPr>
          <p:cNvSpPr txBox="1"/>
          <p:nvPr/>
        </p:nvSpPr>
        <p:spPr>
          <a:xfrm>
            <a:off x="6045200" y="11684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Registro de Peso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FBEFE7-7B92-41AD-BE4D-E2BB41C9FBF5}"/>
              </a:ext>
            </a:extLst>
          </p:cNvPr>
          <p:cNvSpPr txBox="1"/>
          <p:nvPr/>
        </p:nvSpPr>
        <p:spPr>
          <a:xfrm>
            <a:off x="6045200" y="14986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4A5568"/>
                </a:solidFill>
              </a:rPr>
              <a:t>Control semanal del peso corporal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CCE678C-519C-4328-8625-AD7B20954CEB}"/>
              </a:ext>
            </a:extLst>
          </p:cNvPr>
          <p:cNvSpPr/>
          <p:nvPr/>
        </p:nvSpPr>
        <p:spPr>
          <a:xfrm>
            <a:off x="5867400" y="2120900"/>
            <a:ext cx="5689600" cy="965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08B9CAB-E90D-4011-B0B0-F73B643ED76C}"/>
              </a:ext>
            </a:extLst>
          </p:cNvPr>
          <p:cNvSpPr/>
          <p:nvPr/>
        </p:nvSpPr>
        <p:spPr>
          <a:xfrm>
            <a:off x="5867400" y="2120900"/>
            <a:ext cx="63500" cy="965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4122AA9-441D-4DAB-8796-4B0F3CC96FC8}"/>
              </a:ext>
            </a:extLst>
          </p:cNvPr>
          <p:cNvSpPr txBox="1"/>
          <p:nvPr/>
        </p:nvSpPr>
        <p:spPr>
          <a:xfrm>
            <a:off x="6045200" y="22479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Calorías Diarias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F887C7E-B8A0-4063-9E2B-CFAF1E6D8BEE}"/>
              </a:ext>
            </a:extLst>
          </p:cNvPr>
          <p:cNvSpPr txBox="1"/>
          <p:nvPr/>
        </p:nvSpPr>
        <p:spPr>
          <a:xfrm>
            <a:off x="6045200" y="25781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4A5568"/>
                </a:solidFill>
              </a:rPr>
              <a:t>Registro de comidas y calorías</a:t>
            </a:r>
            <a:endParaRPr lang="es-PE" sz="1400">
              <a:solidFill>
                <a:srgbClr val="4A5568"/>
              </a:solidFill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05962DDF-57FE-4705-AC0E-AC22CC7CA37D}"/>
              </a:ext>
            </a:extLst>
          </p:cNvPr>
          <p:cNvSpPr/>
          <p:nvPr/>
        </p:nvSpPr>
        <p:spPr>
          <a:xfrm>
            <a:off x="5867400" y="3200400"/>
            <a:ext cx="5689600" cy="965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754521D-38D4-4CCE-823A-9BC37E39A33A}"/>
              </a:ext>
            </a:extLst>
          </p:cNvPr>
          <p:cNvSpPr/>
          <p:nvPr/>
        </p:nvSpPr>
        <p:spPr>
          <a:xfrm>
            <a:off x="5867400" y="3200400"/>
            <a:ext cx="63500" cy="965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0B5C913-042E-467C-B2F9-4320A390CD49}"/>
              </a:ext>
            </a:extLst>
          </p:cNvPr>
          <p:cNvSpPr txBox="1"/>
          <p:nvPr/>
        </p:nvSpPr>
        <p:spPr>
          <a:xfrm>
            <a:off x="6045200" y="33274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Rutinas Físicas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1115A91-F0A8-4B3A-9FCC-8DE4CA8D4E5F}"/>
              </a:ext>
            </a:extLst>
          </p:cNvPr>
          <p:cNvSpPr txBox="1"/>
          <p:nvPr/>
        </p:nvSpPr>
        <p:spPr>
          <a:xfrm>
            <a:off x="6045200" y="36576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4A5568"/>
                </a:solidFill>
              </a:rPr>
              <a:t>Gestión de actividad física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54468C47-80B8-4140-979A-7803CA73C054}"/>
              </a:ext>
            </a:extLst>
          </p:cNvPr>
          <p:cNvSpPr/>
          <p:nvPr/>
        </p:nvSpPr>
        <p:spPr>
          <a:xfrm>
            <a:off x="5867400" y="4279900"/>
            <a:ext cx="5689600" cy="965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B9EE821-2BCF-426D-B108-56EA8D4AF048}"/>
              </a:ext>
            </a:extLst>
          </p:cNvPr>
          <p:cNvSpPr/>
          <p:nvPr/>
        </p:nvSpPr>
        <p:spPr>
          <a:xfrm>
            <a:off x="5867400" y="4279900"/>
            <a:ext cx="63500" cy="965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AEB7ADA-C48B-438B-8D1D-E1A83CB645AD}"/>
              </a:ext>
            </a:extLst>
          </p:cNvPr>
          <p:cNvSpPr txBox="1"/>
          <p:nvPr/>
        </p:nvSpPr>
        <p:spPr>
          <a:xfrm>
            <a:off x="6045200" y="44069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Autenticación Segura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2A3547C-E482-4FC7-BB88-3DEFF702DEDF}"/>
              </a:ext>
            </a:extLst>
          </p:cNvPr>
          <p:cNvSpPr txBox="1"/>
          <p:nvPr/>
        </p:nvSpPr>
        <p:spPr>
          <a:xfrm>
            <a:off x="6045200" y="47371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4A5568"/>
                </a:solidFill>
              </a:rPr>
              <a:t>Firebase + validación de DNI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378EE1D7-8890-4E16-BEB2-0C90343128D9}"/>
              </a:ext>
            </a:extLst>
          </p:cNvPr>
          <p:cNvSpPr/>
          <p:nvPr/>
        </p:nvSpPr>
        <p:spPr>
          <a:xfrm>
            <a:off x="5867400" y="5359400"/>
            <a:ext cx="5689600" cy="965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B302729-6087-4F29-B2C9-8B79B933891B}"/>
              </a:ext>
            </a:extLst>
          </p:cNvPr>
          <p:cNvSpPr/>
          <p:nvPr/>
        </p:nvSpPr>
        <p:spPr>
          <a:xfrm>
            <a:off x="5867400" y="5359400"/>
            <a:ext cx="63500" cy="965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2F4CF00-AF22-427F-8F79-6A437D6E0CBE}"/>
              </a:ext>
            </a:extLst>
          </p:cNvPr>
          <p:cNvSpPr txBox="1"/>
          <p:nvPr/>
        </p:nvSpPr>
        <p:spPr>
          <a:xfrm>
            <a:off x="6045200" y="54864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Datos Locales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19E6994-753C-4358-8053-BB14795B4D4E}"/>
              </a:ext>
            </a:extLst>
          </p:cNvPr>
          <p:cNvSpPr txBox="1"/>
          <p:nvPr/>
        </p:nvSpPr>
        <p:spPr>
          <a:xfrm>
            <a:off x="6045200" y="58166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4A5568"/>
                </a:solidFill>
              </a:rPr>
              <a:t>Almacenamiento offline con SQLite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5D0772C-F01F-4D6D-ADE8-EB1D407160F6}"/>
              </a:ext>
            </a:extLst>
          </p:cNvPr>
          <p:cNvSpPr/>
          <p:nvPr/>
        </p:nvSpPr>
        <p:spPr>
          <a:xfrm>
            <a:off x="10845800" y="0"/>
            <a:ext cx="1346200" cy="876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33" name="Copied Picture 33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8100"/>
            <a:ext cx="12700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6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D608142E-334A-4A7A-B03A-68C26EB5C07C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72C07F7-5B8B-4AB1-AD3B-1D5E94C228C2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C8B0EBE-A590-4442-ADD1-FD73A6E4B381}"/>
              </a:ext>
            </a:extLst>
          </p:cNvPr>
          <p:cNvSpPr txBox="1"/>
          <p:nvPr/>
        </p:nvSpPr>
        <p:spPr>
          <a:xfrm>
            <a:off x="381000" y="0"/>
            <a:ext cx="11430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2200" b="1">
                <a:solidFill>
                  <a:srgbClr val="FFFFFF"/>
                </a:solidFill>
              </a:rPr>
              <a:t>Diagnóstico del Problema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2E044E-B454-46E7-879C-D1BA2CA7A2A6}"/>
              </a:ext>
            </a:extLst>
          </p:cNvPr>
          <p:cNvSpPr txBox="1"/>
          <p:nvPr/>
        </p:nvSpPr>
        <p:spPr>
          <a:xfrm>
            <a:off x="635000" y="1016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500" i="1">
                <a:solidFill>
                  <a:srgbClr val="4A5568"/>
                </a:solidFill>
              </a:rPr>
              <a:t>Análisis SEPTE — Variables que justifican el desarrollo de Diefit:</a:t>
            </a:r>
            <a:endParaRPr lang="es-PE" sz="1500" i="1">
              <a:solidFill>
                <a:srgbClr val="4A5568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DEE8F0D-F5AC-4F91-8361-D153F99774E4}"/>
              </a:ext>
            </a:extLst>
          </p:cNvPr>
          <p:cNvSpPr/>
          <p:nvPr/>
        </p:nvSpPr>
        <p:spPr>
          <a:xfrm>
            <a:off x="635000" y="1498600"/>
            <a:ext cx="3556000" cy="5016500"/>
          </a:xfrm>
          <a:prstGeom prst="round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F98256A-75F8-4FC3-A579-935A7D2D7CE4}"/>
              </a:ext>
            </a:extLst>
          </p:cNvPr>
          <p:cNvSpPr txBox="1"/>
          <p:nvPr/>
        </p:nvSpPr>
        <p:spPr>
          <a:xfrm>
            <a:off x="838200" y="1676400"/>
            <a:ext cx="314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200" b="1">
                <a:solidFill>
                  <a:srgbClr val="A8C4E0"/>
                </a:solidFill>
              </a:rPr>
              <a:t>VARIABLE SOCIAL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33F4ECC-E774-4E18-847C-1C5BDAE6086D}"/>
              </a:ext>
            </a:extLst>
          </p:cNvPr>
          <p:cNvSpPr txBox="1"/>
          <p:nvPr/>
        </p:nvSpPr>
        <p:spPr>
          <a:xfrm>
            <a:off x="838200" y="20828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4800" b="1">
                <a:solidFill>
                  <a:srgbClr val="FFFFFF"/>
                </a:solidFill>
              </a:rPr>
              <a:t>62%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4851AB4-7A5E-4D29-A06A-E96EFE3A32B0}"/>
              </a:ext>
            </a:extLst>
          </p:cNvPr>
          <p:cNvSpPr txBox="1"/>
          <p:nvPr/>
        </p:nvSpPr>
        <p:spPr>
          <a:xfrm>
            <a:off x="838200" y="3225800"/>
            <a:ext cx="314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>
                <a:solidFill>
                  <a:srgbClr val="FFFFFF"/>
                </a:solidFill>
              </a:rPr>
              <a:t>de peruanos mayores de 15 años
presenta exceso de peso</a:t>
            </a:r>
            <a:endParaRPr lang="es-PE" sz="1600">
              <a:solidFill>
                <a:srgbClr val="FFFFFF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8A187FE-20CD-4023-B805-BD087D5EECDD}"/>
              </a:ext>
            </a:extLst>
          </p:cNvPr>
          <p:cNvSpPr txBox="1"/>
          <p:nvPr/>
        </p:nvSpPr>
        <p:spPr>
          <a:xfrm>
            <a:off x="838200" y="5689600"/>
            <a:ext cx="3149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200" i="1">
                <a:solidFill>
                  <a:srgbClr val="A8C4E0"/>
                </a:solidFill>
              </a:rPr>
              <a:t>ENDES — MINSA, 2024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B0EBB73-7107-4D7F-9977-DDD7D111123A}"/>
              </a:ext>
            </a:extLst>
          </p:cNvPr>
          <p:cNvSpPr/>
          <p:nvPr/>
        </p:nvSpPr>
        <p:spPr>
          <a:xfrm>
            <a:off x="4508500" y="1498600"/>
            <a:ext cx="3556000" cy="5016500"/>
          </a:xfrm>
          <a:prstGeom prst="roundRect">
            <a:avLst/>
          </a:prstGeom>
          <a:solidFill>
            <a:srgbClr val="2C5F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7855A01-9F85-49A4-9D3B-02F8CB887356}"/>
              </a:ext>
            </a:extLst>
          </p:cNvPr>
          <p:cNvSpPr txBox="1"/>
          <p:nvPr/>
        </p:nvSpPr>
        <p:spPr>
          <a:xfrm>
            <a:off x="4711700" y="1676400"/>
            <a:ext cx="314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200" b="1">
                <a:solidFill>
                  <a:srgbClr val="A8C4E0"/>
                </a:solidFill>
              </a:rPr>
              <a:t>VARIABLE ECONÓMICA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8E0716D-512C-443C-B763-67A0089A7222}"/>
              </a:ext>
            </a:extLst>
          </p:cNvPr>
          <p:cNvSpPr txBox="1"/>
          <p:nvPr/>
        </p:nvSpPr>
        <p:spPr>
          <a:xfrm>
            <a:off x="4711700" y="20828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4800" b="1">
                <a:solidFill>
                  <a:srgbClr val="FFFFFF"/>
                </a:solidFill>
              </a:rPr>
              <a:t>↑ 200%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76421EC-1F60-42FE-8894-5839ED5094BF}"/>
              </a:ext>
            </a:extLst>
          </p:cNvPr>
          <p:cNvSpPr txBox="1"/>
          <p:nvPr/>
        </p:nvSpPr>
        <p:spPr>
          <a:xfrm>
            <a:off x="4711700" y="3225800"/>
            <a:ext cx="314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>
                <a:solidFill>
                  <a:srgbClr val="FFFFFF"/>
                </a:solidFill>
              </a:rPr>
              <a:t>crecimiento en pedidos de
delivery de comida 2021–2022</a:t>
            </a:r>
            <a:endParaRPr lang="es-PE" sz="1600">
              <a:solidFill>
                <a:srgbClr val="FFFFFF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8CEDE2C-6EFF-41BA-8878-72F4B39A070F}"/>
              </a:ext>
            </a:extLst>
          </p:cNvPr>
          <p:cNvSpPr txBox="1"/>
          <p:nvPr/>
        </p:nvSpPr>
        <p:spPr>
          <a:xfrm>
            <a:off x="4711700" y="5689600"/>
            <a:ext cx="3149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200" i="1">
                <a:solidFill>
                  <a:srgbClr val="A8C4E0"/>
                </a:solidFill>
              </a:rPr>
              <a:t>Contexto económico nacional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8914F4D4-1C2E-47FA-B48D-D01822160185}"/>
              </a:ext>
            </a:extLst>
          </p:cNvPr>
          <p:cNvSpPr/>
          <p:nvPr/>
        </p:nvSpPr>
        <p:spPr>
          <a:xfrm>
            <a:off x="8382000" y="1498600"/>
            <a:ext cx="3556000" cy="5016500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07B56A1-2B6F-4604-B8D2-266F81331382}"/>
              </a:ext>
            </a:extLst>
          </p:cNvPr>
          <p:cNvSpPr txBox="1"/>
          <p:nvPr/>
        </p:nvSpPr>
        <p:spPr>
          <a:xfrm>
            <a:off x="8585200" y="1676400"/>
            <a:ext cx="314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200" b="1">
                <a:solidFill>
                  <a:srgbClr val="FFFFFF"/>
                </a:solidFill>
              </a:rPr>
              <a:t>VARIABLE TECNOLÓGICA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B1B931B-849B-462C-86E2-171BD0C61CAE}"/>
              </a:ext>
            </a:extLst>
          </p:cNvPr>
          <p:cNvSpPr txBox="1"/>
          <p:nvPr/>
        </p:nvSpPr>
        <p:spPr>
          <a:xfrm>
            <a:off x="8585200" y="20828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4800" b="1">
                <a:solidFill>
                  <a:srgbClr val="FFFFFF"/>
                </a:solidFill>
              </a:rPr>
              <a:t>94.6%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CE3ACFF-D259-462C-BC43-5D1D14C23A1A}"/>
              </a:ext>
            </a:extLst>
          </p:cNvPr>
          <p:cNvSpPr txBox="1"/>
          <p:nvPr/>
        </p:nvSpPr>
        <p:spPr>
          <a:xfrm>
            <a:off x="8585200" y="3225800"/>
            <a:ext cx="314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>
                <a:solidFill>
                  <a:srgbClr val="FFFFFF"/>
                </a:solidFill>
              </a:rPr>
              <a:t>de hogares peruanos cuenta
con smartphone</a:t>
            </a:r>
            <a:endParaRPr lang="es-PE" sz="1600">
              <a:solidFill>
                <a:srgbClr val="FFFFFF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C5E2A17-1C41-4609-AFB4-7E177369E38F}"/>
              </a:ext>
            </a:extLst>
          </p:cNvPr>
          <p:cNvSpPr txBox="1"/>
          <p:nvPr/>
        </p:nvSpPr>
        <p:spPr>
          <a:xfrm>
            <a:off x="8585200" y="5689600"/>
            <a:ext cx="3149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200" i="1">
                <a:solidFill>
                  <a:srgbClr val="A8C4E0"/>
                </a:solidFill>
              </a:rPr>
              <a:t>OSIPTEL — Erestel, 2024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F461361-F6A9-4347-B9B6-CA9E74D3DC5D}"/>
              </a:ext>
            </a:extLst>
          </p:cNvPr>
          <p:cNvSpPr/>
          <p:nvPr/>
        </p:nvSpPr>
        <p:spPr>
          <a:xfrm>
            <a:off x="10845800" y="0"/>
            <a:ext cx="1346200" cy="876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33" name="Copied Picture 33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8100"/>
            <a:ext cx="12700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0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51D0C11-7FDC-4C72-A049-0093F80FFC1B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7E89A01-E3E5-48D3-AF08-48F4553848E1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B5327ED-A56C-4B8F-B96F-AE867DEDB520}"/>
              </a:ext>
            </a:extLst>
          </p:cNvPr>
          <p:cNvSpPr txBox="1"/>
          <p:nvPr/>
        </p:nvSpPr>
        <p:spPr>
          <a:xfrm>
            <a:off x="381000" y="0"/>
            <a:ext cx="11430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MX" sz="2200" b="1">
                <a:solidFill>
                  <a:srgbClr val="FFFFFF"/>
                </a:solidFill>
              </a:rPr>
              <a:t>Objetivos del Proyecto — Criterios SMART</a:t>
            </a:r>
            <a:endParaRPr lang="es-PE" sz="2200" b="1">
              <a:solidFill>
                <a:srgbClr val="FFFFFF"/>
              </a:solidFill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1FE51CAF-7FF1-4E9F-936D-D2DA5CFE3AEB}"/>
              </a:ext>
            </a:extLst>
          </p:cNvPr>
          <p:cNvSpPr/>
          <p:nvPr/>
        </p:nvSpPr>
        <p:spPr>
          <a:xfrm>
            <a:off x="635000" y="1041400"/>
            <a:ext cx="10922000" cy="16510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4772800-4127-42C1-8AC9-2DD588B4D824}"/>
              </a:ext>
            </a:extLst>
          </p:cNvPr>
          <p:cNvSpPr/>
          <p:nvPr/>
        </p:nvSpPr>
        <p:spPr>
          <a:xfrm>
            <a:off x="635000" y="1041400"/>
            <a:ext cx="76200" cy="1651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D2E7ACB-060E-4CFB-9DE8-634BD6DB65B7}"/>
              </a:ext>
            </a:extLst>
          </p:cNvPr>
          <p:cNvSpPr txBox="1"/>
          <p:nvPr/>
        </p:nvSpPr>
        <p:spPr>
          <a:xfrm>
            <a:off x="838200" y="1168400"/>
            <a:ext cx="114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300" b="1">
                <a:solidFill>
                  <a:srgbClr val="1F3864"/>
                </a:solidFill>
              </a:rPr>
              <a:t>OBJ 01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2C89613-3308-4281-B456-A1005160A138}"/>
              </a:ext>
            </a:extLst>
          </p:cNvPr>
          <p:cNvSpPr txBox="1"/>
          <p:nvPr/>
        </p:nvSpPr>
        <p:spPr>
          <a:xfrm>
            <a:off x="2235200" y="1168400"/>
            <a:ext cx="762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b="1">
                <a:solidFill>
                  <a:srgbClr val="2D3748"/>
                </a:solidFill>
              </a:rPr>
              <a:t>Módulo de Registro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DD457D8-10F0-488A-A184-9926A8458822}"/>
              </a:ext>
            </a:extLst>
          </p:cNvPr>
          <p:cNvSpPr txBox="1"/>
          <p:nvPr/>
        </p:nvSpPr>
        <p:spPr>
          <a:xfrm>
            <a:off x="2235200" y="1651000"/>
            <a:ext cx="7620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4A5568"/>
                </a:solidFill>
              </a:rPr>
              <a:t>Desarrollar el módulo de registro de peso y consumo calórico que permita registrar como mínimo 3 comidas diarias y el peso semanal del usuario.</a:t>
            </a:r>
            <a:endParaRPr lang="es-PE" sz="1400">
              <a:solidFill>
                <a:srgbClr val="4A5568"/>
              </a:solidFill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7810A1E6-D356-4853-BA7B-FD381B358250}"/>
              </a:ext>
            </a:extLst>
          </p:cNvPr>
          <p:cNvSpPr/>
          <p:nvPr/>
        </p:nvSpPr>
        <p:spPr>
          <a:xfrm>
            <a:off x="635000" y="2882900"/>
            <a:ext cx="10922000" cy="16510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41F46AE-D077-48D3-A18D-D8E8E4309DC7}"/>
              </a:ext>
            </a:extLst>
          </p:cNvPr>
          <p:cNvSpPr/>
          <p:nvPr/>
        </p:nvSpPr>
        <p:spPr>
          <a:xfrm>
            <a:off x="635000" y="2882900"/>
            <a:ext cx="76200" cy="1651000"/>
          </a:xfrm>
          <a:prstGeom prst="rect">
            <a:avLst/>
          </a:prstGeom>
          <a:solidFill>
            <a:srgbClr val="2C5F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92CA724-E668-43F5-972A-DFF90BBDEF69}"/>
              </a:ext>
            </a:extLst>
          </p:cNvPr>
          <p:cNvSpPr txBox="1"/>
          <p:nvPr/>
        </p:nvSpPr>
        <p:spPr>
          <a:xfrm>
            <a:off x="838200" y="3009900"/>
            <a:ext cx="114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300" b="1">
                <a:solidFill>
                  <a:srgbClr val="2C5F8A"/>
                </a:solidFill>
              </a:rPr>
              <a:t>OBJ 02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7403D76-77C2-4253-9AE4-DFBC677A3A11}"/>
              </a:ext>
            </a:extLst>
          </p:cNvPr>
          <p:cNvSpPr txBox="1"/>
          <p:nvPr/>
        </p:nvSpPr>
        <p:spPr>
          <a:xfrm>
            <a:off x="2235200" y="3009900"/>
            <a:ext cx="762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b="1">
                <a:solidFill>
                  <a:srgbClr val="2D3748"/>
                </a:solidFill>
              </a:rPr>
              <a:t>Autenticación con DNI y Firebase</a:t>
            </a:r>
            <a:endParaRPr lang="es-PE" b="1">
              <a:solidFill>
                <a:srgbClr val="2D3748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EE6612F-A112-4F1B-B960-6DD9A9D29BD3}"/>
              </a:ext>
            </a:extLst>
          </p:cNvPr>
          <p:cNvSpPr txBox="1"/>
          <p:nvPr/>
        </p:nvSpPr>
        <p:spPr>
          <a:xfrm>
            <a:off x="2235200" y="3492500"/>
            <a:ext cx="7620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4A5568"/>
                </a:solidFill>
              </a:rPr>
              <a:t>Implementar el flujo de registro vía DNI (servicio REST de validación) y autenticación con Firebase, con tasa de éxito ≥95% en validaciones de identidad.</a:t>
            </a:r>
            <a:endParaRPr lang="es-PE" sz="1400">
              <a:solidFill>
                <a:srgbClr val="4A5568"/>
              </a:solidFill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23013825-EE06-4DF0-AFE2-EA873398C322}"/>
              </a:ext>
            </a:extLst>
          </p:cNvPr>
          <p:cNvSpPr/>
          <p:nvPr/>
        </p:nvSpPr>
        <p:spPr>
          <a:xfrm>
            <a:off x="635000" y="4724400"/>
            <a:ext cx="10922000" cy="16510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6124879-96E9-4DB6-9CAA-B9FEDD459A63}"/>
              </a:ext>
            </a:extLst>
          </p:cNvPr>
          <p:cNvSpPr/>
          <p:nvPr/>
        </p:nvSpPr>
        <p:spPr>
          <a:xfrm>
            <a:off x="635000" y="4724400"/>
            <a:ext cx="76200" cy="1651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00408F6-70B7-4672-A14D-8D94D95D044B}"/>
              </a:ext>
            </a:extLst>
          </p:cNvPr>
          <p:cNvSpPr txBox="1"/>
          <p:nvPr/>
        </p:nvSpPr>
        <p:spPr>
          <a:xfrm>
            <a:off x="838200" y="4851400"/>
            <a:ext cx="114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300" b="1">
                <a:solidFill>
                  <a:srgbClr val="4472C4"/>
                </a:solidFill>
              </a:rPr>
              <a:t>OBJ 03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5509E31-A9B2-41C0-B738-0A1978B0A297}"/>
              </a:ext>
            </a:extLst>
          </p:cNvPr>
          <p:cNvSpPr txBox="1"/>
          <p:nvPr/>
        </p:nvSpPr>
        <p:spPr>
          <a:xfrm>
            <a:off x="2235200" y="4851400"/>
            <a:ext cx="762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b="1">
                <a:solidFill>
                  <a:srgbClr val="2D3748"/>
                </a:solidFill>
              </a:rPr>
              <a:t>Módulo de Rutinas de Actividad Física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F0D0959-146B-452B-A713-57C9D07CC1F2}"/>
              </a:ext>
            </a:extLst>
          </p:cNvPr>
          <p:cNvSpPr txBox="1"/>
          <p:nvPr/>
        </p:nvSpPr>
        <p:spPr>
          <a:xfrm>
            <a:off x="2235200" y="5334000"/>
            <a:ext cx="7620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4A5568"/>
                </a:solidFill>
              </a:rPr>
              <a:t>Diseñar e implementar el módulo que permita crear, editar y eliminar como mínimo 5 rutinas de actividad física por usuario, integradas con el perfil.</a:t>
            </a:r>
            <a:endParaRPr lang="es-PE" sz="1400">
              <a:solidFill>
                <a:srgbClr val="4A5568"/>
              </a:solidFill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A9F6F03-C543-4ED4-A6E2-C2D7735D1F9C}"/>
              </a:ext>
            </a:extLst>
          </p:cNvPr>
          <p:cNvSpPr/>
          <p:nvPr/>
        </p:nvSpPr>
        <p:spPr>
          <a:xfrm>
            <a:off x="10845800" y="0"/>
            <a:ext cx="1346200" cy="876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38" name="Copied Picture 38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8100"/>
            <a:ext cx="12700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46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2E0C77F-40D8-4110-9CCD-7771B9B01342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6880086-7A62-4B66-9D41-57A66E95B7A2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DED1225-2DEB-4F40-9D60-5D1377BC0EF7}"/>
              </a:ext>
            </a:extLst>
          </p:cNvPr>
          <p:cNvSpPr txBox="1"/>
          <p:nvPr/>
        </p:nvSpPr>
        <p:spPr>
          <a:xfrm>
            <a:off x="381000" y="0"/>
            <a:ext cx="11430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2200" b="1">
                <a:solidFill>
                  <a:srgbClr val="FFFFFF"/>
                </a:solidFill>
              </a:rPr>
              <a:t>Definición y Alcance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89F66B58-175B-49CC-A3D7-28E9887013C7}"/>
              </a:ext>
            </a:extLst>
          </p:cNvPr>
          <p:cNvSpPr/>
          <p:nvPr/>
        </p:nvSpPr>
        <p:spPr>
          <a:xfrm>
            <a:off x="635000" y="1041400"/>
            <a:ext cx="4826000" cy="5461000"/>
          </a:xfrm>
          <a:prstGeom prst="round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A97D7B9-2013-4C88-B17F-B1127BA42E44}"/>
              </a:ext>
            </a:extLst>
          </p:cNvPr>
          <p:cNvSpPr txBox="1"/>
          <p:nvPr/>
        </p:nvSpPr>
        <p:spPr>
          <a:xfrm>
            <a:off x="838200" y="12192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3200" b="1">
                <a:solidFill>
                  <a:srgbClr val="FFFFFF"/>
                </a:solidFill>
              </a:rPr>
              <a:t>Diefit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80CC0D7-C7FF-4176-9AB8-0812D996C833}"/>
              </a:ext>
            </a:extLst>
          </p:cNvPr>
          <p:cNvSpPr txBox="1"/>
          <p:nvPr/>
        </p:nvSpPr>
        <p:spPr>
          <a:xfrm>
            <a:off x="838200" y="18796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>
                <a:solidFill>
                  <a:srgbClr val="A8C4E0"/>
                </a:solidFill>
              </a:rPr>
              <a:t>Asistente de bienestar personal
para Android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0E9772-DF17-46D6-BDEC-F108150A2388}"/>
              </a:ext>
            </a:extLst>
          </p:cNvPr>
          <p:cNvSpPr txBox="1"/>
          <p:nvPr/>
        </p:nvSpPr>
        <p:spPr>
          <a:xfrm>
            <a:off x="838200" y="2641600"/>
            <a:ext cx="4445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FFFFFF"/>
                </a:solidFill>
              </a:rPr>
              <a:t>App nativa en Kotlin con pantallas XML, diseñada para ser el asistente de salud y bienestar en el bolsillo del usuario. Funciona sin conexión gracias a SQLite y se conecta con servicios en la nube vía Firebase y APIs REST.</a:t>
            </a:r>
            <a:endParaRPr lang="es-PE" sz="1400">
              <a:solidFill>
                <a:srgbClr val="FFFFFF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62B5F0C-28D2-4710-8EB8-A70834647AC8}"/>
              </a:ext>
            </a:extLst>
          </p:cNvPr>
          <p:cNvSpPr txBox="1"/>
          <p:nvPr/>
        </p:nvSpPr>
        <p:spPr>
          <a:xfrm>
            <a:off x="838200" y="4927600"/>
            <a:ext cx="4445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A8C4E0"/>
                </a:solidFill>
              </a:rPr>
              <a:t>Plataforma: Android
Lenguaje: Kotlin
IDE: Android Studio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1C60D88A-BFE0-4945-9A4F-26200D7E08E8}"/>
              </a:ext>
            </a:extLst>
          </p:cNvPr>
          <p:cNvSpPr/>
          <p:nvPr/>
        </p:nvSpPr>
        <p:spPr>
          <a:xfrm>
            <a:off x="5715000" y="1041400"/>
            <a:ext cx="2921000" cy="16510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D4CACA9-4BE1-41FC-9B31-E2C0831825E7}"/>
              </a:ext>
            </a:extLst>
          </p:cNvPr>
          <p:cNvSpPr/>
          <p:nvPr/>
        </p:nvSpPr>
        <p:spPr>
          <a:xfrm>
            <a:off x="5715000" y="1041400"/>
            <a:ext cx="63500" cy="1651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FD93BD5-B787-48A5-8F6B-0597087A4814}"/>
              </a:ext>
            </a:extLst>
          </p:cNvPr>
          <p:cNvSpPr txBox="1"/>
          <p:nvPr/>
        </p:nvSpPr>
        <p:spPr>
          <a:xfrm>
            <a:off x="5892800" y="1244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Peso Corporal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4629095-21E9-48A1-A42F-244EC09F80AE}"/>
              </a:ext>
            </a:extLst>
          </p:cNvPr>
          <p:cNvSpPr txBox="1"/>
          <p:nvPr/>
        </p:nvSpPr>
        <p:spPr>
          <a:xfrm>
            <a:off x="5892800" y="17018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4A5568"/>
                </a:solidFill>
              </a:rPr>
              <a:t>Registro y seguimiento semanal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100A0481-F3C7-4DB8-BAF3-9E15EB80C05E}"/>
              </a:ext>
            </a:extLst>
          </p:cNvPr>
          <p:cNvSpPr/>
          <p:nvPr/>
        </p:nvSpPr>
        <p:spPr>
          <a:xfrm>
            <a:off x="8890000" y="1041400"/>
            <a:ext cx="2921000" cy="16510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28C20D2-66E6-4F0B-8433-7F7B8BE4EFBA}"/>
              </a:ext>
            </a:extLst>
          </p:cNvPr>
          <p:cNvSpPr/>
          <p:nvPr/>
        </p:nvSpPr>
        <p:spPr>
          <a:xfrm>
            <a:off x="8890000" y="1041400"/>
            <a:ext cx="63500" cy="1651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96EF36D-50A2-49F4-B324-1FCE14E5B0E4}"/>
              </a:ext>
            </a:extLst>
          </p:cNvPr>
          <p:cNvSpPr txBox="1"/>
          <p:nvPr/>
        </p:nvSpPr>
        <p:spPr>
          <a:xfrm>
            <a:off x="9067800" y="1244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Nutrición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75FD729-05E7-4DED-A8DB-D07EA4B48867}"/>
              </a:ext>
            </a:extLst>
          </p:cNvPr>
          <p:cNvSpPr txBox="1"/>
          <p:nvPr/>
        </p:nvSpPr>
        <p:spPr>
          <a:xfrm>
            <a:off x="9067800" y="17018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4A5568"/>
                </a:solidFill>
              </a:rPr>
              <a:t>≥3 comidas + calorías diarias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F79B6F87-051A-48DF-9927-B105606CD426}"/>
              </a:ext>
            </a:extLst>
          </p:cNvPr>
          <p:cNvSpPr/>
          <p:nvPr/>
        </p:nvSpPr>
        <p:spPr>
          <a:xfrm>
            <a:off x="5715000" y="2895600"/>
            <a:ext cx="2921000" cy="16510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814AE4-3403-45D0-8634-68673278FE9D}"/>
              </a:ext>
            </a:extLst>
          </p:cNvPr>
          <p:cNvSpPr/>
          <p:nvPr/>
        </p:nvSpPr>
        <p:spPr>
          <a:xfrm>
            <a:off x="5715000" y="2895600"/>
            <a:ext cx="63500" cy="1651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8A2C8E9-2DCC-4857-A294-87F3672B0EE8}"/>
              </a:ext>
            </a:extLst>
          </p:cNvPr>
          <p:cNvSpPr txBox="1"/>
          <p:nvPr/>
        </p:nvSpPr>
        <p:spPr>
          <a:xfrm>
            <a:off x="5892800" y="30988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Rutinas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6167081-9DF8-4B2F-BCD9-5D867A927D84}"/>
              </a:ext>
            </a:extLst>
          </p:cNvPr>
          <p:cNvSpPr txBox="1"/>
          <p:nvPr/>
        </p:nvSpPr>
        <p:spPr>
          <a:xfrm>
            <a:off x="5892800" y="35560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4A5568"/>
                </a:solidFill>
              </a:rPr>
              <a:t>Crear, editar y eliminar rutinas</a:t>
            </a:r>
            <a:endParaRPr lang="es-PE" sz="1400">
              <a:solidFill>
                <a:srgbClr val="4A5568"/>
              </a:solidFill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3361EEBE-1955-4BD2-959A-BA14CB21F5E9}"/>
              </a:ext>
            </a:extLst>
          </p:cNvPr>
          <p:cNvSpPr/>
          <p:nvPr/>
        </p:nvSpPr>
        <p:spPr>
          <a:xfrm>
            <a:off x="8890000" y="2895600"/>
            <a:ext cx="2921000" cy="16510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8C3003B0-11DD-4718-94B4-9FCD562DB38E}"/>
              </a:ext>
            </a:extLst>
          </p:cNvPr>
          <p:cNvSpPr/>
          <p:nvPr/>
        </p:nvSpPr>
        <p:spPr>
          <a:xfrm>
            <a:off x="8890000" y="2895600"/>
            <a:ext cx="63500" cy="1651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5BA6DC2-5C68-4A5B-A295-F45DF9522402}"/>
              </a:ext>
            </a:extLst>
          </p:cNvPr>
          <p:cNvSpPr txBox="1"/>
          <p:nvPr/>
        </p:nvSpPr>
        <p:spPr>
          <a:xfrm>
            <a:off x="9067800" y="30988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Autenticación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B1B2DFC-0DD4-45BE-BE08-71957350F0B0}"/>
              </a:ext>
            </a:extLst>
          </p:cNvPr>
          <p:cNvSpPr txBox="1"/>
          <p:nvPr/>
        </p:nvSpPr>
        <p:spPr>
          <a:xfrm>
            <a:off x="9067800" y="35560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4A5568"/>
                </a:solidFill>
              </a:rPr>
              <a:t>Firebase + validación de DNI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01926DB8-F11E-4644-A713-EA353323BBA8}"/>
              </a:ext>
            </a:extLst>
          </p:cNvPr>
          <p:cNvSpPr/>
          <p:nvPr/>
        </p:nvSpPr>
        <p:spPr>
          <a:xfrm>
            <a:off x="5715000" y="4749800"/>
            <a:ext cx="2921000" cy="16510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16B36FF8-A387-4259-B831-74EA9DEF4F57}"/>
              </a:ext>
            </a:extLst>
          </p:cNvPr>
          <p:cNvSpPr/>
          <p:nvPr/>
        </p:nvSpPr>
        <p:spPr>
          <a:xfrm>
            <a:off x="5715000" y="4749800"/>
            <a:ext cx="63500" cy="1651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C167842-3E78-4D5C-B053-D65A369407B1}"/>
              </a:ext>
            </a:extLst>
          </p:cNvPr>
          <p:cNvSpPr txBox="1"/>
          <p:nvPr/>
        </p:nvSpPr>
        <p:spPr>
          <a:xfrm>
            <a:off x="5892800" y="4953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Base de Datos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83FB665-E128-49F5-8642-4888D74A80BB}"/>
              </a:ext>
            </a:extLst>
          </p:cNvPr>
          <p:cNvSpPr txBox="1"/>
          <p:nvPr/>
        </p:nvSpPr>
        <p:spPr>
          <a:xfrm>
            <a:off x="5892800" y="54102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4A5568"/>
                </a:solidFill>
              </a:rPr>
              <a:t>SQLite offline + Firebase cloud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A21E8505-3422-446C-868B-F8EFDA6C6001}"/>
              </a:ext>
            </a:extLst>
          </p:cNvPr>
          <p:cNvSpPr/>
          <p:nvPr/>
        </p:nvSpPr>
        <p:spPr>
          <a:xfrm>
            <a:off x="8890000" y="4749800"/>
            <a:ext cx="2921000" cy="16510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507669A8-C53F-4CCD-A5A2-3780602E5431}"/>
              </a:ext>
            </a:extLst>
          </p:cNvPr>
          <p:cNvSpPr/>
          <p:nvPr/>
        </p:nvSpPr>
        <p:spPr>
          <a:xfrm>
            <a:off x="8890000" y="4749800"/>
            <a:ext cx="63500" cy="1651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D198FAD-DBC3-45CD-BB8E-BE58B8BE394C}"/>
              </a:ext>
            </a:extLst>
          </p:cNvPr>
          <p:cNvSpPr txBox="1"/>
          <p:nvPr/>
        </p:nvSpPr>
        <p:spPr>
          <a:xfrm>
            <a:off x="9067800" y="4953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Interfaz Nativa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1E04EBD-BB67-4FA8-AFE0-39DA358C3647}"/>
              </a:ext>
            </a:extLst>
          </p:cNvPr>
          <p:cNvSpPr txBox="1"/>
          <p:nvPr/>
        </p:nvSpPr>
        <p:spPr>
          <a:xfrm>
            <a:off x="9067800" y="54102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4A5568"/>
                </a:solidFill>
              </a:rPr>
              <a:t>Pantallas XML Android Studio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54092349-4F3B-45CA-B599-2003D0D259C8}"/>
              </a:ext>
            </a:extLst>
          </p:cNvPr>
          <p:cNvSpPr/>
          <p:nvPr/>
        </p:nvSpPr>
        <p:spPr>
          <a:xfrm>
            <a:off x="10845800" y="0"/>
            <a:ext cx="1346200" cy="876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52" name="Copied Picture 52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8100"/>
            <a:ext cx="12700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7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8EE543D-8489-4A50-90F1-1B4724AAAF04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04C8F27-E625-42DA-A141-B77CE269C81D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0D36AA4-93A4-42DC-AEE0-AF18C7CC180E}"/>
              </a:ext>
            </a:extLst>
          </p:cNvPr>
          <p:cNvSpPr txBox="1"/>
          <p:nvPr/>
        </p:nvSpPr>
        <p:spPr>
          <a:xfrm>
            <a:off x="381000" y="0"/>
            <a:ext cx="11430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2200" b="1">
                <a:solidFill>
                  <a:srgbClr val="FFFFFF"/>
                </a:solidFill>
              </a:rPr>
              <a:t>Stack Tecnológico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78A6F4C0-332B-486F-B0BD-3BB1981935E8}"/>
              </a:ext>
            </a:extLst>
          </p:cNvPr>
          <p:cNvSpPr/>
          <p:nvPr/>
        </p:nvSpPr>
        <p:spPr>
          <a:xfrm>
            <a:off x="685800" y="1041400"/>
            <a:ext cx="3352800" cy="2438400"/>
          </a:xfrm>
          <a:prstGeom prst="round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F5A4CC2-3437-439B-840B-C9037CC023B3}"/>
              </a:ext>
            </a:extLst>
          </p:cNvPr>
          <p:cNvSpPr/>
          <p:nvPr/>
        </p:nvSpPr>
        <p:spPr>
          <a:xfrm>
            <a:off x="685800" y="1041400"/>
            <a:ext cx="33528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B7B5FDB-352F-4549-86F6-3F5C950FE3D7}"/>
              </a:ext>
            </a:extLst>
          </p:cNvPr>
          <p:cNvSpPr txBox="1"/>
          <p:nvPr/>
        </p:nvSpPr>
        <p:spPr>
          <a:xfrm>
            <a:off x="863600" y="1244600"/>
            <a:ext cx="299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2000" b="1">
                <a:solidFill>
                  <a:srgbClr val="FFFFFF"/>
                </a:solidFill>
              </a:rPr>
              <a:t>Kotlin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1D78E7F-8208-444C-9BCE-C8D1F8607CBB}"/>
              </a:ext>
            </a:extLst>
          </p:cNvPr>
          <p:cNvSpPr txBox="1"/>
          <p:nvPr/>
        </p:nvSpPr>
        <p:spPr>
          <a:xfrm>
            <a:off x="863600" y="17272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300" b="1">
                <a:solidFill>
                  <a:srgbClr val="A8C4E0"/>
                </a:solidFill>
              </a:rPr>
              <a:t>Lenguaje de programación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EBCEC01-0F58-468D-9B18-B712D7BEBCC0}"/>
              </a:ext>
            </a:extLst>
          </p:cNvPr>
          <p:cNvSpPr txBox="1"/>
          <p:nvPr/>
        </p:nvSpPr>
        <p:spPr>
          <a:xfrm>
            <a:off x="863600" y="20828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300">
                <a:solidFill>
                  <a:srgbClr val="FFFFFF"/>
                </a:solidFill>
              </a:rPr>
              <a:t>Lenguaje oficial de Google para Android, moderno e interoperable con Java.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0E05F3DD-B5CF-4F95-98DE-36DB9CE05FE8}"/>
              </a:ext>
            </a:extLst>
          </p:cNvPr>
          <p:cNvSpPr/>
          <p:nvPr/>
        </p:nvSpPr>
        <p:spPr>
          <a:xfrm>
            <a:off x="4292600" y="1041400"/>
            <a:ext cx="3352800" cy="2438400"/>
          </a:xfrm>
          <a:prstGeom prst="roundRect">
            <a:avLst/>
          </a:prstGeom>
          <a:solidFill>
            <a:srgbClr val="2C5F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6460ED9-0E7E-4804-95EB-BCF015903628}"/>
              </a:ext>
            </a:extLst>
          </p:cNvPr>
          <p:cNvSpPr/>
          <p:nvPr/>
        </p:nvSpPr>
        <p:spPr>
          <a:xfrm>
            <a:off x="4292600" y="1041400"/>
            <a:ext cx="33528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329AC8B-54EF-496E-B51C-CD915586DE57}"/>
              </a:ext>
            </a:extLst>
          </p:cNvPr>
          <p:cNvSpPr txBox="1"/>
          <p:nvPr/>
        </p:nvSpPr>
        <p:spPr>
          <a:xfrm>
            <a:off x="4470400" y="1244600"/>
            <a:ext cx="299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2000" b="1">
                <a:solidFill>
                  <a:srgbClr val="FFFFFF"/>
                </a:solidFill>
              </a:rPr>
              <a:t>Android Studio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44E6E3E-8CF5-4053-9B46-295912DC7240}"/>
              </a:ext>
            </a:extLst>
          </p:cNvPr>
          <p:cNvSpPr txBox="1"/>
          <p:nvPr/>
        </p:nvSpPr>
        <p:spPr>
          <a:xfrm>
            <a:off x="4470400" y="17272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300" b="1">
                <a:solidFill>
                  <a:srgbClr val="A8C4E0"/>
                </a:solidFill>
              </a:rPr>
              <a:t>Entorno de desarrollo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2078C7B-A35B-48E7-978C-E6F8B189BAFC}"/>
              </a:ext>
            </a:extLst>
          </p:cNvPr>
          <p:cNvSpPr txBox="1"/>
          <p:nvPr/>
        </p:nvSpPr>
        <p:spPr>
          <a:xfrm>
            <a:off x="4470400" y="20828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300">
                <a:solidFill>
                  <a:srgbClr val="FFFFFF"/>
                </a:solidFill>
              </a:rPr>
              <a:t>IDE oficial para apps Android con editor visual de layouts y depurador integrado.</a:t>
            </a:r>
            <a:endParaRPr lang="es-PE" sz="1300">
              <a:solidFill>
                <a:srgbClr val="FFFFFF"/>
              </a:solidFill>
            </a:endParaRP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76DD7E2-542F-430B-A0A5-5CC20B76D583}"/>
              </a:ext>
            </a:extLst>
          </p:cNvPr>
          <p:cNvSpPr/>
          <p:nvPr/>
        </p:nvSpPr>
        <p:spPr>
          <a:xfrm>
            <a:off x="7899400" y="1041400"/>
            <a:ext cx="3352800" cy="2438400"/>
          </a:xfrm>
          <a:prstGeom prst="roundRect">
            <a:avLst/>
          </a:prstGeom>
          <a:solidFill>
            <a:srgbClr val="0F4C7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6E35B683-2BCE-4186-9F70-21F4BEDB4171}"/>
              </a:ext>
            </a:extLst>
          </p:cNvPr>
          <p:cNvSpPr/>
          <p:nvPr/>
        </p:nvSpPr>
        <p:spPr>
          <a:xfrm>
            <a:off x="7899400" y="1041400"/>
            <a:ext cx="3352800" cy="63500"/>
          </a:xfrm>
          <a:prstGeom prst="rect">
            <a:avLst/>
          </a:prstGeom>
          <a:solidFill>
            <a:srgbClr val="0F4C7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CCCFAE3-E60B-480E-815B-3C588A1D2E09}"/>
              </a:ext>
            </a:extLst>
          </p:cNvPr>
          <p:cNvSpPr txBox="1"/>
          <p:nvPr/>
        </p:nvSpPr>
        <p:spPr>
          <a:xfrm>
            <a:off x="8077200" y="1244600"/>
            <a:ext cx="299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2000" b="1">
                <a:solidFill>
                  <a:srgbClr val="FFFFFF"/>
                </a:solidFill>
              </a:rPr>
              <a:t>Firebase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C6ED269-9B72-4942-80A8-87F1A03BD964}"/>
              </a:ext>
            </a:extLst>
          </p:cNvPr>
          <p:cNvSpPr txBox="1"/>
          <p:nvPr/>
        </p:nvSpPr>
        <p:spPr>
          <a:xfrm>
            <a:off x="8077200" y="17272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300" b="1">
                <a:solidFill>
                  <a:srgbClr val="A8C4E0"/>
                </a:solidFill>
              </a:rPr>
              <a:t>Autenticación en la nube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ADA83E0-968E-4220-A848-DBB6954ADE54}"/>
              </a:ext>
            </a:extLst>
          </p:cNvPr>
          <p:cNvSpPr txBox="1"/>
          <p:nvPr/>
        </p:nvSpPr>
        <p:spPr>
          <a:xfrm>
            <a:off x="8077200" y="20828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300">
                <a:solidFill>
                  <a:srgbClr val="FFFFFF"/>
                </a:solidFill>
              </a:rPr>
              <a:t>Plataforma de Google para gestión de usuarios y autenticación segura.</a:t>
            </a:r>
            <a:endParaRPr lang="es-PE" sz="1300">
              <a:solidFill>
                <a:srgbClr val="FFFFFF"/>
              </a:solidFill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BBE38798-E3BA-4739-A95B-979774A10B6E}"/>
              </a:ext>
            </a:extLst>
          </p:cNvPr>
          <p:cNvSpPr/>
          <p:nvPr/>
        </p:nvSpPr>
        <p:spPr>
          <a:xfrm>
            <a:off x="685800" y="3708400"/>
            <a:ext cx="3352800" cy="2438400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49624B97-E281-4E11-BB52-A8FAFCE3925E}"/>
              </a:ext>
            </a:extLst>
          </p:cNvPr>
          <p:cNvSpPr/>
          <p:nvPr/>
        </p:nvSpPr>
        <p:spPr>
          <a:xfrm>
            <a:off x="685800" y="3708400"/>
            <a:ext cx="33528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BA562C-732E-41F2-8F72-A4A8FC6FAD38}"/>
              </a:ext>
            </a:extLst>
          </p:cNvPr>
          <p:cNvSpPr txBox="1"/>
          <p:nvPr/>
        </p:nvSpPr>
        <p:spPr>
          <a:xfrm>
            <a:off x="863600" y="3911600"/>
            <a:ext cx="299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2000" b="1">
                <a:solidFill>
                  <a:srgbClr val="FFFFFF"/>
                </a:solidFill>
              </a:rPr>
              <a:t>SQLite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F7021266-17AF-43CE-B41E-B2835CCEE561}"/>
              </a:ext>
            </a:extLst>
          </p:cNvPr>
          <p:cNvSpPr txBox="1"/>
          <p:nvPr/>
        </p:nvSpPr>
        <p:spPr>
          <a:xfrm>
            <a:off x="863600" y="43942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300" b="1">
                <a:solidFill>
                  <a:srgbClr val="A8C4E0"/>
                </a:solidFill>
              </a:rPr>
              <a:t>Base de datos local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2DD8F0C-AEC1-4521-896D-0850A316FBC0}"/>
              </a:ext>
            </a:extLst>
          </p:cNvPr>
          <p:cNvSpPr txBox="1"/>
          <p:nvPr/>
        </p:nvSpPr>
        <p:spPr>
          <a:xfrm>
            <a:off x="863600" y="47498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300">
                <a:solidFill>
                  <a:srgbClr val="FFFFFF"/>
                </a:solidFill>
              </a:rPr>
              <a:t>Sistema embebido en Android para almacenamiento offline de datos del usuario.</a:t>
            </a:r>
            <a:endParaRPr lang="es-PE" sz="1300">
              <a:solidFill>
                <a:srgbClr val="FFFFFF"/>
              </a:solidFill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0061068F-8C85-4B00-BB33-49C9EE94602A}"/>
              </a:ext>
            </a:extLst>
          </p:cNvPr>
          <p:cNvSpPr/>
          <p:nvPr/>
        </p:nvSpPr>
        <p:spPr>
          <a:xfrm>
            <a:off x="4292600" y="3708400"/>
            <a:ext cx="3352800" cy="2438400"/>
          </a:xfrm>
          <a:prstGeom prst="roundRect">
            <a:avLst/>
          </a:prstGeom>
          <a:solidFill>
            <a:srgbClr val="065F4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C310129-1694-4EF4-9E84-075313F60725}"/>
              </a:ext>
            </a:extLst>
          </p:cNvPr>
          <p:cNvSpPr/>
          <p:nvPr/>
        </p:nvSpPr>
        <p:spPr>
          <a:xfrm>
            <a:off x="4292600" y="3708400"/>
            <a:ext cx="33528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51880E4-6D7C-495D-920E-108F42B6F010}"/>
              </a:ext>
            </a:extLst>
          </p:cNvPr>
          <p:cNvSpPr txBox="1"/>
          <p:nvPr/>
        </p:nvSpPr>
        <p:spPr>
          <a:xfrm>
            <a:off x="4470400" y="3911600"/>
            <a:ext cx="299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2000" b="1">
                <a:solidFill>
                  <a:srgbClr val="FFFFFF"/>
                </a:solidFill>
              </a:rPr>
              <a:t>API REST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012C7B5-5146-44B4-A12A-5A9BD02EE3EB}"/>
              </a:ext>
            </a:extLst>
          </p:cNvPr>
          <p:cNvSpPr txBox="1"/>
          <p:nvPr/>
        </p:nvSpPr>
        <p:spPr>
          <a:xfrm>
            <a:off x="4470400" y="43942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300" b="1">
                <a:solidFill>
                  <a:srgbClr val="A8C4E0"/>
                </a:solidFill>
              </a:rPr>
              <a:t>Integración web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881754E-6A90-4D20-8FDA-897A44434A5E}"/>
              </a:ext>
            </a:extLst>
          </p:cNvPr>
          <p:cNvSpPr txBox="1"/>
          <p:nvPr/>
        </p:nvSpPr>
        <p:spPr>
          <a:xfrm>
            <a:off x="4470400" y="47498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300">
                <a:solidFill>
                  <a:srgbClr val="FFFFFF"/>
                </a:solidFill>
              </a:rPr>
              <a:t>Servicio HTTP para validación del DNI del usuario contra registros oficiales.</a:t>
            </a:r>
            <a:endParaRPr lang="es-PE" sz="1300">
              <a:solidFill>
                <a:srgbClr val="FFFFFF"/>
              </a:solidFill>
            </a:endParaRP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821F598E-4146-4287-AFED-709781FA42DA}"/>
              </a:ext>
            </a:extLst>
          </p:cNvPr>
          <p:cNvSpPr/>
          <p:nvPr/>
        </p:nvSpPr>
        <p:spPr>
          <a:xfrm>
            <a:off x="7899400" y="3708400"/>
            <a:ext cx="3352800" cy="2438400"/>
          </a:xfrm>
          <a:prstGeom prst="roundRect">
            <a:avLst/>
          </a:prstGeom>
          <a:solidFill>
            <a:srgbClr val="5C3A8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851EBEF5-3DE1-4DCD-97D6-1CB3DA29D9B8}"/>
              </a:ext>
            </a:extLst>
          </p:cNvPr>
          <p:cNvSpPr/>
          <p:nvPr/>
        </p:nvSpPr>
        <p:spPr>
          <a:xfrm>
            <a:off x="7899400" y="3708400"/>
            <a:ext cx="33528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1F956F9A-971E-4305-88F1-268E9401E240}"/>
              </a:ext>
            </a:extLst>
          </p:cNvPr>
          <p:cNvSpPr txBox="1"/>
          <p:nvPr/>
        </p:nvSpPr>
        <p:spPr>
          <a:xfrm>
            <a:off x="8077200" y="3911600"/>
            <a:ext cx="299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2000" b="1">
                <a:solidFill>
                  <a:srgbClr val="FFFFFF"/>
                </a:solidFill>
              </a:rPr>
              <a:t>XML Layouts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B257059-E575-4404-8A4D-741ADA5E4F2C}"/>
              </a:ext>
            </a:extLst>
          </p:cNvPr>
          <p:cNvSpPr txBox="1"/>
          <p:nvPr/>
        </p:nvSpPr>
        <p:spPr>
          <a:xfrm>
            <a:off x="8077200" y="43942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300" b="1">
                <a:solidFill>
                  <a:srgbClr val="A8C4E0"/>
                </a:solidFill>
              </a:rPr>
              <a:t>Diseño de interfaz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EEFC28D-C0B4-484C-8A96-DBE9A0E61A3C}"/>
              </a:ext>
            </a:extLst>
          </p:cNvPr>
          <p:cNvSpPr txBox="1"/>
          <p:nvPr/>
        </p:nvSpPr>
        <p:spPr>
          <a:xfrm>
            <a:off x="8077200" y="47498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300">
                <a:solidFill>
                  <a:srgbClr val="FFFFFF"/>
                </a:solidFill>
              </a:rPr>
              <a:t>Archivos de definición visual de cada pantalla Activity de la aplicación.</a:t>
            </a:r>
            <a:endParaRPr lang="es-PE" sz="1300">
              <a:solidFill>
                <a:srgbClr val="FFFFFF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7A8BBBDC-0B83-4D47-9259-37F8D45822FD}"/>
              </a:ext>
            </a:extLst>
          </p:cNvPr>
          <p:cNvSpPr/>
          <p:nvPr/>
        </p:nvSpPr>
        <p:spPr>
          <a:xfrm>
            <a:off x="10845800" y="0"/>
            <a:ext cx="1346200" cy="876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56" name="Copied Picture 56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8100"/>
            <a:ext cx="12700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37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4E7300D-94F9-411E-A5EE-53B7F231232F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FA055B-3A59-4D27-BE8D-32D7453BE749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BF827B-2434-4435-BA18-FD98B7D2586D}"/>
              </a:ext>
            </a:extLst>
          </p:cNvPr>
          <p:cNvSpPr txBox="1"/>
          <p:nvPr/>
        </p:nvSpPr>
        <p:spPr>
          <a:xfrm>
            <a:off x="381000" y="203656"/>
            <a:ext cx="9549384" cy="43088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s-PE" sz="2200" b="1" dirty="0"/>
              <a:t>Diagrama entidad-relación de la base de datos del proyecto </a:t>
            </a:r>
            <a:r>
              <a:rPr lang="es-PE" sz="2200" b="1" dirty="0" err="1"/>
              <a:t>Diefit</a:t>
            </a:r>
            <a:endParaRPr lang="es-PE" sz="2200" b="1" dirty="0">
              <a:solidFill>
                <a:srgbClr val="FFFFFF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65DC6A-CCBC-4077-AD6B-80E9D59EFEFA}"/>
              </a:ext>
            </a:extLst>
          </p:cNvPr>
          <p:cNvSpPr/>
          <p:nvPr/>
        </p:nvSpPr>
        <p:spPr>
          <a:xfrm>
            <a:off x="10858500" y="0"/>
            <a:ext cx="1333500" cy="876300"/>
          </a:xfrm>
          <a:prstGeom prst="rect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7" name="Copied Picture 7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3900" y="38100"/>
            <a:ext cx="1244600" cy="7874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A682AAA-AE9F-292C-23F8-DE8D04576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888" y="1003756"/>
            <a:ext cx="4903958" cy="569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33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D3EA4DA-79E3-B1FE-22F3-FA63F46EB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912" y="881189"/>
            <a:ext cx="5760720" cy="569912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00E5AEE-1AD7-FE07-B392-B9F0361B33E7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D09E46-D49D-07B5-E9E1-94C96F65F1C5}"/>
              </a:ext>
            </a:extLst>
          </p:cNvPr>
          <p:cNvSpPr/>
          <p:nvPr/>
        </p:nvSpPr>
        <p:spPr>
          <a:xfrm>
            <a:off x="10858500" y="-38100"/>
            <a:ext cx="1333500" cy="876300"/>
          </a:xfrm>
          <a:prstGeom prst="rect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6" name="Copied Picture 7">
            <a:extLst>
              <a:ext uri="{FF2B5EF4-FFF2-40B4-BE49-F238E27FC236}">
                <a16:creationId xmlns:a16="http://schemas.microsoft.com/office/drawing/2014/main" id="{F8BCC4DE-ADD6-89EF-7EA5-83708E965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3900" y="38100"/>
            <a:ext cx="1244600" cy="7874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F1050CF-C9D5-250D-FE3B-EFE9CB32CF17}"/>
              </a:ext>
            </a:extLst>
          </p:cNvPr>
          <p:cNvSpPr txBox="1"/>
          <p:nvPr/>
        </p:nvSpPr>
        <p:spPr>
          <a:xfrm>
            <a:off x="381000" y="203656"/>
            <a:ext cx="9549384" cy="43088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s-PE" sz="2200" b="1" dirty="0" err="1"/>
              <a:t>MockUps</a:t>
            </a:r>
            <a:r>
              <a:rPr lang="es-PE" sz="2200" b="1" dirty="0"/>
              <a:t> de las pantallas principales - </a:t>
            </a:r>
            <a:r>
              <a:rPr lang="es-PE" sz="2200" b="1" dirty="0" err="1"/>
              <a:t>DieFit</a:t>
            </a:r>
            <a:endParaRPr lang="es-PE" sz="2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226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4E5DD11A-637D-4A8F-A720-8E528EB4DBD8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E020A0-042D-4A2D-9E24-7FA6B77617C7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0BD2AD3-2AC5-453D-A8D1-18A52F57FB82}"/>
              </a:ext>
            </a:extLst>
          </p:cNvPr>
          <p:cNvSpPr txBox="1"/>
          <p:nvPr/>
        </p:nvSpPr>
        <p:spPr>
          <a:xfrm>
            <a:off x="381000" y="0"/>
            <a:ext cx="11430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MX" sz="2200" b="1" dirty="0">
                <a:solidFill>
                  <a:srgbClr val="FFFFFF"/>
                </a:solidFill>
              </a:rPr>
              <a:t>Pantallas de la Aplicación — Autenticación</a:t>
            </a:r>
            <a:endParaRPr lang="es-PE" sz="2200" b="1" dirty="0">
              <a:solidFill>
                <a:srgbClr val="FFFFFF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CF6D01A-C9E7-41F3-BB49-CCD1101457E7}"/>
              </a:ext>
            </a:extLst>
          </p:cNvPr>
          <p:cNvSpPr txBox="1"/>
          <p:nvPr/>
        </p:nvSpPr>
        <p:spPr>
          <a:xfrm>
            <a:off x="2451100" y="5943600"/>
            <a:ext cx="21717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 b="1">
                <a:solidFill>
                  <a:srgbClr val="2D3748"/>
                </a:solidFill>
              </a:rPr>
              <a:t>Login / Inicio de sesión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AC35FF6-631C-4E0A-8648-404D1696AAE5}"/>
              </a:ext>
            </a:extLst>
          </p:cNvPr>
          <p:cNvSpPr txBox="1"/>
          <p:nvPr/>
        </p:nvSpPr>
        <p:spPr>
          <a:xfrm>
            <a:off x="5003800" y="5943600"/>
            <a:ext cx="21717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 b="1">
                <a:solidFill>
                  <a:srgbClr val="2D3748"/>
                </a:solidFill>
              </a:rPr>
              <a:t>Registro de cuenta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67A4640-A7D9-4877-9EC1-A369AE0F6067}"/>
              </a:ext>
            </a:extLst>
          </p:cNvPr>
          <p:cNvSpPr txBox="1"/>
          <p:nvPr/>
        </p:nvSpPr>
        <p:spPr>
          <a:xfrm>
            <a:off x="7556500" y="5943600"/>
            <a:ext cx="21717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 b="1">
                <a:solidFill>
                  <a:srgbClr val="2D3748"/>
                </a:solidFill>
              </a:rPr>
              <a:t>Pantalla principal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F615EB12-EAF0-34E5-C138-CC1E304D9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00" y="1016000"/>
            <a:ext cx="2189113" cy="482600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6B9742E-0F83-CE3D-D6BC-D73D2CCFD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800" y="1016000"/>
            <a:ext cx="2194205" cy="482600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06DEFFF3-EB48-0523-D676-F15A1D8C0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0" y="1016000"/>
            <a:ext cx="2164237" cy="4826000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0AE6160D-4276-415C-AABE-B00E55AD5C8C}"/>
              </a:ext>
            </a:extLst>
          </p:cNvPr>
          <p:cNvSpPr/>
          <p:nvPr/>
        </p:nvSpPr>
        <p:spPr>
          <a:xfrm>
            <a:off x="10845800" y="0"/>
            <a:ext cx="1346200" cy="876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35" name="Copied Picture 35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1200" y="38100"/>
            <a:ext cx="12700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00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7B140-2A00-409F-93CB-BDFECB82A9DA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5F0FDE7-A8D4-4268-B953-8D22EFCAE087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FC6073-970C-4FB2-965E-0128F64ED67D}"/>
              </a:ext>
            </a:extLst>
          </p:cNvPr>
          <p:cNvSpPr txBox="1"/>
          <p:nvPr/>
        </p:nvSpPr>
        <p:spPr>
          <a:xfrm>
            <a:off x="381000" y="0"/>
            <a:ext cx="11430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MX" sz="2200" b="1">
                <a:solidFill>
                  <a:srgbClr val="FFFFFF"/>
                </a:solidFill>
              </a:rPr>
              <a:t>Pantallas de la Aplicación — Funcionalidades</a:t>
            </a:r>
            <a:endParaRPr lang="es-PE" sz="2200" b="1">
              <a:solidFill>
                <a:srgbClr val="FFFFFF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0FD9CC-005A-4DE5-AEC7-7DD8C94FF060}"/>
              </a:ext>
            </a:extLst>
          </p:cNvPr>
          <p:cNvSpPr txBox="1"/>
          <p:nvPr/>
        </p:nvSpPr>
        <p:spPr>
          <a:xfrm>
            <a:off x="2451100" y="5943600"/>
            <a:ext cx="21717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 b="1">
                <a:solidFill>
                  <a:srgbClr val="2D3748"/>
                </a:solidFill>
              </a:rPr>
              <a:t>Registro de nutrición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EBB8F7-9A25-4E7C-9D8F-2E30C7227ADF}"/>
              </a:ext>
            </a:extLst>
          </p:cNvPr>
          <p:cNvSpPr txBox="1"/>
          <p:nvPr/>
        </p:nvSpPr>
        <p:spPr>
          <a:xfrm>
            <a:off x="5003800" y="5943600"/>
            <a:ext cx="21717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 b="1">
                <a:solidFill>
                  <a:srgbClr val="2D3748"/>
                </a:solidFill>
              </a:rPr>
              <a:t>Gestión de productos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0EFB609-D322-41B8-A06B-F37EB4D09AF7}"/>
              </a:ext>
            </a:extLst>
          </p:cNvPr>
          <p:cNvSpPr txBox="1"/>
          <p:nvPr/>
        </p:nvSpPr>
        <p:spPr>
          <a:xfrm>
            <a:off x="7556500" y="5943600"/>
            <a:ext cx="21717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 b="1">
                <a:solidFill>
                  <a:srgbClr val="2D3748"/>
                </a:solidFill>
              </a:rPr>
              <a:t>Perfil del usuario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AF5AA92-5042-8DA5-42CC-5FD68AC9E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1016000"/>
            <a:ext cx="2135178" cy="4826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EAFC58-8FA7-2C9C-EB5F-6E3EADFE5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1016000"/>
            <a:ext cx="2174834" cy="4826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53E9C87-7A05-8C0B-1188-BCD94BA02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0" y="1016000"/>
            <a:ext cx="2155241" cy="4826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A2C67A1-0DF7-460B-BEC7-217D1E79E012}"/>
              </a:ext>
            </a:extLst>
          </p:cNvPr>
          <p:cNvSpPr/>
          <p:nvPr/>
        </p:nvSpPr>
        <p:spPr>
          <a:xfrm>
            <a:off x="10845800" y="0"/>
            <a:ext cx="1346200" cy="876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12" name="Copied Picture 12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1200" y="38100"/>
            <a:ext cx="12700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88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82B2755-8553-4692-9D30-E1C486D0158D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F07A305-5A1B-4B4A-B0FD-8E3A53477D34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45AEFB-1E67-4281-A3D6-5008F527D4D1}"/>
              </a:ext>
            </a:extLst>
          </p:cNvPr>
          <p:cNvSpPr txBox="1"/>
          <p:nvPr/>
        </p:nvSpPr>
        <p:spPr>
          <a:xfrm>
            <a:off x="381000" y="0"/>
            <a:ext cx="11430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2200" b="1">
                <a:solidFill>
                  <a:srgbClr val="FFFFFF"/>
                </a:solidFill>
              </a:rPr>
              <a:t>Productos y Entregables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F0C4946A-2231-4AE3-B2A9-65962ABF05BF}"/>
              </a:ext>
            </a:extLst>
          </p:cNvPr>
          <p:cNvSpPr/>
          <p:nvPr/>
        </p:nvSpPr>
        <p:spPr>
          <a:xfrm>
            <a:off x="635000" y="1041400"/>
            <a:ext cx="5664200" cy="1219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182A1684-75FB-4BC5-92AA-A6FAEFE5BDBC}"/>
              </a:ext>
            </a:extLst>
          </p:cNvPr>
          <p:cNvSpPr/>
          <p:nvPr/>
        </p:nvSpPr>
        <p:spPr>
          <a:xfrm>
            <a:off x="635000" y="1041400"/>
            <a:ext cx="63500" cy="1219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2EBED38-9950-4571-94B8-DD67979C7BEE}"/>
              </a:ext>
            </a:extLst>
          </p:cNvPr>
          <p:cNvSpPr txBox="1"/>
          <p:nvPr/>
        </p:nvSpPr>
        <p:spPr>
          <a:xfrm>
            <a:off x="812800" y="1143000"/>
            <a:ext cx="4572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1600" b="1">
                <a:solidFill>
                  <a:srgbClr val="4472C4"/>
                </a:solidFill>
              </a:rPr>
              <a:t>01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AE47EAC-7035-4DCD-8056-D3A1DAC0F4AC}"/>
              </a:ext>
            </a:extLst>
          </p:cNvPr>
          <p:cNvSpPr txBox="1"/>
          <p:nvPr/>
        </p:nvSpPr>
        <p:spPr>
          <a:xfrm>
            <a:off x="1371600" y="12192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Especificación Funcional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F98705D-555A-43D7-ACF7-135D0C504FA7}"/>
              </a:ext>
            </a:extLst>
          </p:cNvPr>
          <p:cNvSpPr txBox="1"/>
          <p:nvPr/>
        </p:nvSpPr>
        <p:spPr>
          <a:xfrm>
            <a:off x="1371600" y="16256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595959"/>
                </a:solidFill>
              </a:rPr>
              <a:t>Casos de uso, reglas de negocio y flujos de la aplicación Diefit.</a:t>
            </a:r>
            <a:endParaRPr lang="es-PE" sz="1400">
              <a:solidFill>
                <a:srgbClr val="595959"/>
              </a:solidFill>
            </a:endParaRP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4434536-5332-416E-9DEE-A8DEDFA212CA}"/>
              </a:ext>
            </a:extLst>
          </p:cNvPr>
          <p:cNvSpPr/>
          <p:nvPr/>
        </p:nvSpPr>
        <p:spPr>
          <a:xfrm>
            <a:off x="635000" y="2413000"/>
            <a:ext cx="5664200" cy="1219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EAED5484-B979-4EE6-BD75-86F72E7C2549}"/>
              </a:ext>
            </a:extLst>
          </p:cNvPr>
          <p:cNvSpPr/>
          <p:nvPr/>
        </p:nvSpPr>
        <p:spPr>
          <a:xfrm>
            <a:off x="635000" y="2413000"/>
            <a:ext cx="63500" cy="1219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628722B-BAD2-491B-A167-4A4B8C970F83}"/>
              </a:ext>
            </a:extLst>
          </p:cNvPr>
          <p:cNvSpPr txBox="1"/>
          <p:nvPr/>
        </p:nvSpPr>
        <p:spPr>
          <a:xfrm>
            <a:off x="812800" y="2514600"/>
            <a:ext cx="4572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1600" b="1">
                <a:solidFill>
                  <a:srgbClr val="4472C4"/>
                </a:solidFill>
              </a:rPr>
              <a:t>02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3D76AC3-7D6D-4979-B56A-60C587062D7A}"/>
              </a:ext>
            </a:extLst>
          </p:cNvPr>
          <p:cNvSpPr txBox="1"/>
          <p:nvPr/>
        </p:nvSpPr>
        <p:spPr>
          <a:xfrm>
            <a:off x="1371600" y="25908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2D3748"/>
                </a:solidFill>
              </a:rPr>
              <a:t>Modelos de Base de Datos</a:t>
            </a:r>
            <a:endParaRPr lang="es-PE" sz="1600" b="1">
              <a:solidFill>
                <a:srgbClr val="2D3748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3BA55C7-121C-4631-9FC4-54CDD5D347EF}"/>
              </a:ext>
            </a:extLst>
          </p:cNvPr>
          <p:cNvSpPr txBox="1"/>
          <p:nvPr/>
        </p:nvSpPr>
        <p:spPr>
          <a:xfrm>
            <a:off x="1371600" y="29972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595959"/>
                </a:solidFill>
              </a:rPr>
              <a:t>Modelo lógico, modelo físico y diagrama Entidad-Relación (E-R).</a:t>
            </a:r>
            <a:endParaRPr lang="es-PE" sz="1400">
              <a:solidFill>
                <a:srgbClr val="595959"/>
              </a:solidFill>
            </a:endParaRP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7B353E39-2796-4841-8B5B-BC6D8E6BBE6D}"/>
              </a:ext>
            </a:extLst>
          </p:cNvPr>
          <p:cNvSpPr/>
          <p:nvPr/>
        </p:nvSpPr>
        <p:spPr>
          <a:xfrm>
            <a:off x="635000" y="3784600"/>
            <a:ext cx="5664200" cy="1219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55E25BE8-C924-4A32-B3A4-7FBF2E280F7E}"/>
              </a:ext>
            </a:extLst>
          </p:cNvPr>
          <p:cNvSpPr/>
          <p:nvPr/>
        </p:nvSpPr>
        <p:spPr>
          <a:xfrm>
            <a:off x="635000" y="3784600"/>
            <a:ext cx="63500" cy="1219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136E5B1-02CE-4612-B62C-E4E560D8CCBF}"/>
              </a:ext>
            </a:extLst>
          </p:cNvPr>
          <p:cNvSpPr txBox="1"/>
          <p:nvPr/>
        </p:nvSpPr>
        <p:spPr>
          <a:xfrm>
            <a:off x="812800" y="3886200"/>
            <a:ext cx="4572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1600" b="1">
                <a:solidFill>
                  <a:srgbClr val="4472C4"/>
                </a:solidFill>
              </a:rPr>
              <a:t>03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95BD0F6-CE3A-45C1-A20F-C1B74B4E5E3C}"/>
              </a:ext>
            </a:extLst>
          </p:cNvPr>
          <p:cNvSpPr txBox="1"/>
          <p:nvPr/>
        </p:nvSpPr>
        <p:spPr>
          <a:xfrm>
            <a:off x="1371600" y="39624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Mockups de la Aplicación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612B0E8-3AC3-4CB9-87CC-31A90E8E5A1D}"/>
              </a:ext>
            </a:extLst>
          </p:cNvPr>
          <p:cNvSpPr/>
          <p:nvPr/>
        </p:nvSpPr>
        <p:spPr>
          <a:xfrm>
            <a:off x="635000" y="5156200"/>
            <a:ext cx="5664200" cy="1219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5756C319-5467-4947-84F0-D7B2B14F0628}"/>
              </a:ext>
            </a:extLst>
          </p:cNvPr>
          <p:cNvSpPr/>
          <p:nvPr/>
        </p:nvSpPr>
        <p:spPr>
          <a:xfrm>
            <a:off x="635000" y="5156200"/>
            <a:ext cx="63500" cy="1219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955ECB7-35F5-43E3-8324-273EE48D6CC3}"/>
              </a:ext>
            </a:extLst>
          </p:cNvPr>
          <p:cNvSpPr txBox="1"/>
          <p:nvPr/>
        </p:nvSpPr>
        <p:spPr>
          <a:xfrm>
            <a:off x="812800" y="5257800"/>
            <a:ext cx="4572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1600" b="1">
                <a:solidFill>
                  <a:srgbClr val="4472C4"/>
                </a:solidFill>
              </a:rPr>
              <a:t>04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F8DD5DA-B4B2-4FFB-ADE9-DB08FF6656C4}"/>
              </a:ext>
            </a:extLst>
          </p:cNvPr>
          <p:cNvSpPr txBox="1"/>
          <p:nvPr/>
        </p:nvSpPr>
        <p:spPr>
          <a:xfrm>
            <a:off x="1371600" y="53340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Servicio Web REST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9491F5FB-CC7A-4189-A70D-75174EC2BA01}"/>
              </a:ext>
            </a:extLst>
          </p:cNvPr>
          <p:cNvSpPr txBox="1"/>
          <p:nvPr/>
        </p:nvSpPr>
        <p:spPr>
          <a:xfrm>
            <a:off x="1371600" y="57404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595959"/>
                </a:solidFill>
              </a:rPr>
              <a:t>API para integración del app móvil con servicios externos.</a:t>
            </a:r>
            <a:endParaRPr lang="es-PE" sz="1400">
              <a:solidFill>
                <a:srgbClr val="595959"/>
              </a:solidFill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D6BC1B1E-E5A5-456C-91BA-33D09ED26758}"/>
              </a:ext>
            </a:extLst>
          </p:cNvPr>
          <p:cNvSpPr/>
          <p:nvPr/>
        </p:nvSpPr>
        <p:spPr>
          <a:xfrm>
            <a:off x="6451600" y="1041400"/>
            <a:ext cx="5664200" cy="1219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9DE888DC-2164-412F-834D-83241CBFE5CD}"/>
              </a:ext>
            </a:extLst>
          </p:cNvPr>
          <p:cNvSpPr/>
          <p:nvPr/>
        </p:nvSpPr>
        <p:spPr>
          <a:xfrm>
            <a:off x="6451600" y="1041400"/>
            <a:ext cx="63500" cy="1219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88008B21-9621-4AA3-8F82-AEBA10C4F754}"/>
              </a:ext>
            </a:extLst>
          </p:cNvPr>
          <p:cNvSpPr txBox="1"/>
          <p:nvPr/>
        </p:nvSpPr>
        <p:spPr>
          <a:xfrm>
            <a:off x="6629400" y="1143000"/>
            <a:ext cx="4572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1600" b="1">
                <a:solidFill>
                  <a:srgbClr val="4472C4"/>
                </a:solidFill>
              </a:rPr>
              <a:t>05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007FE24D-306B-4F8E-AE40-072D69BADF94}"/>
              </a:ext>
            </a:extLst>
          </p:cNvPr>
          <p:cNvSpPr txBox="1"/>
          <p:nvPr/>
        </p:nvSpPr>
        <p:spPr>
          <a:xfrm>
            <a:off x="7188200" y="12192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Aplicación Móvil Android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BDF99C94-60F4-4072-B0EC-D9A14449A982}"/>
              </a:ext>
            </a:extLst>
          </p:cNvPr>
          <p:cNvSpPr txBox="1"/>
          <p:nvPr/>
        </p:nvSpPr>
        <p:spPr>
          <a:xfrm>
            <a:off x="7188200" y="16256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400">
                <a:solidFill>
                  <a:srgbClr val="595959"/>
                </a:solidFill>
              </a:rPr>
              <a:t>App en Kotlin: Activities, layouts XML, SQLite y consumo de APIs.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07E8174C-F35D-472E-9A91-F948259BDBEA}"/>
              </a:ext>
            </a:extLst>
          </p:cNvPr>
          <p:cNvSpPr/>
          <p:nvPr/>
        </p:nvSpPr>
        <p:spPr>
          <a:xfrm>
            <a:off x="6451600" y="2413000"/>
            <a:ext cx="5664200" cy="1219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9B29F6F6-BCD5-4677-A066-6F7293509C4E}"/>
              </a:ext>
            </a:extLst>
          </p:cNvPr>
          <p:cNvSpPr/>
          <p:nvPr/>
        </p:nvSpPr>
        <p:spPr>
          <a:xfrm>
            <a:off x="6451600" y="2413000"/>
            <a:ext cx="63500" cy="1219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0AF4F722-DE26-4B87-9836-34B722EF329B}"/>
              </a:ext>
            </a:extLst>
          </p:cNvPr>
          <p:cNvSpPr txBox="1"/>
          <p:nvPr/>
        </p:nvSpPr>
        <p:spPr>
          <a:xfrm>
            <a:off x="6629400" y="2514600"/>
            <a:ext cx="4572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1600" b="1">
                <a:solidFill>
                  <a:srgbClr val="4472C4"/>
                </a:solidFill>
              </a:rPr>
              <a:t>06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5F209994-3EB7-4B77-9C42-37E2D29AA964}"/>
              </a:ext>
            </a:extLst>
          </p:cNvPr>
          <p:cNvSpPr txBox="1"/>
          <p:nvPr/>
        </p:nvSpPr>
        <p:spPr>
          <a:xfrm>
            <a:off x="7188200" y="25908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Video Demo Reel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5E4E764F-D2FD-4F40-A42E-1ECE58C3EFD8}"/>
              </a:ext>
            </a:extLst>
          </p:cNvPr>
          <p:cNvSpPr txBox="1"/>
          <p:nvPr/>
        </p:nvSpPr>
        <p:spPr>
          <a:xfrm>
            <a:off x="7188200" y="29972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595959"/>
                </a:solidFill>
              </a:rPr>
              <a:t>Video de 2-3 minutos mostrando los módulos principales en funcionamiento.</a:t>
            </a:r>
            <a:endParaRPr lang="es-PE" sz="1400">
              <a:solidFill>
                <a:srgbClr val="595959"/>
              </a:solidFill>
            </a:endParaRPr>
          </a:p>
        </p:txBody>
      </p:sp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03C845CA-F3FA-4CCA-B3A8-D604B5A9D93A}"/>
              </a:ext>
            </a:extLst>
          </p:cNvPr>
          <p:cNvSpPr/>
          <p:nvPr/>
        </p:nvSpPr>
        <p:spPr>
          <a:xfrm>
            <a:off x="6451600" y="3784600"/>
            <a:ext cx="5664200" cy="1219200"/>
          </a:xfrm>
          <a:prstGeom prst="roundRect">
            <a:avLst/>
          </a:prstGeom>
          <a:solidFill>
            <a:srgbClr val="F3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070A9916-9D00-449C-BCB6-1CEFAD42D291}"/>
              </a:ext>
            </a:extLst>
          </p:cNvPr>
          <p:cNvSpPr/>
          <p:nvPr/>
        </p:nvSpPr>
        <p:spPr>
          <a:xfrm>
            <a:off x="6451600" y="3784600"/>
            <a:ext cx="63500" cy="1219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380AC4A-2627-4D23-9432-AE820BFC6253}"/>
              </a:ext>
            </a:extLst>
          </p:cNvPr>
          <p:cNvSpPr txBox="1"/>
          <p:nvPr/>
        </p:nvSpPr>
        <p:spPr>
          <a:xfrm>
            <a:off x="6629400" y="3886200"/>
            <a:ext cx="4572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1600" b="1">
                <a:solidFill>
                  <a:srgbClr val="4472C4"/>
                </a:solidFill>
              </a:rPr>
              <a:t>07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341F8361-C946-4BD4-B347-A4D4F8BD781A}"/>
              </a:ext>
            </a:extLst>
          </p:cNvPr>
          <p:cNvSpPr txBox="1"/>
          <p:nvPr/>
        </p:nvSpPr>
        <p:spPr>
          <a:xfrm>
            <a:off x="7188200" y="39624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sz="1600" b="1">
                <a:solidFill>
                  <a:srgbClr val="2D3748"/>
                </a:solidFill>
              </a:rPr>
              <a:t>Link de Descarga APK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2BD1CE9A-FF6F-41F9-B170-9823C9956A90}"/>
              </a:ext>
            </a:extLst>
          </p:cNvPr>
          <p:cNvSpPr txBox="1"/>
          <p:nvPr/>
        </p:nvSpPr>
        <p:spPr>
          <a:xfrm>
            <a:off x="7188200" y="43688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595959"/>
                </a:solidFill>
              </a:rPr>
              <a:t>Enlace disponible en Google Drive — acceso público.</a:t>
            </a:r>
            <a:endParaRPr lang="es-PE" sz="1400">
              <a:solidFill>
                <a:srgbClr val="595959"/>
              </a:solidFill>
            </a:endParaRP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DD947EA6-0753-4371-9503-6F0E7353AFBD}"/>
              </a:ext>
            </a:extLst>
          </p:cNvPr>
          <p:cNvSpPr/>
          <p:nvPr/>
        </p:nvSpPr>
        <p:spPr>
          <a:xfrm>
            <a:off x="10845800" y="0"/>
            <a:ext cx="1346200" cy="876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81" name="Copied Picture 81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8100"/>
            <a:ext cx="1270000" cy="787400"/>
          </a:xfrm>
          <a:prstGeom prst="rect">
            <a:avLst/>
          </a:prstGeom>
        </p:spPr>
      </p:pic>
      <p:sp>
        <p:nvSpPr>
          <p:cNvPr id="59" name="TextBox 58"/>
          <p:cNvSpPr txBox="1">
            <a:spLocks noGrp="1"/>
          </p:cNvSpPr>
          <p:nvPr/>
        </p:nvSpPr>
        <p:spPr>
          <a:xfrm>
            <a:off x="1371600" y="4368480"/>
            <a:ext cx="469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s-PE" sz="1400" dirty="0">
                <a:solidFill>
                  <a:srgbClr val="44546A"/>
                </a:solidFill>
              </a:rPr>
              <a:t>Pantallas de registro, login, peso, alimentos y rutinas.</a:t>
            </a:r>
          </a:p>
        </p:txBody>
      </p:sp>
    </p:spTree>
    <p:extLst>
      <p:ext uri="{BB962C8B-B14F-4D97-AF65-F5344CB8AC3E}">
        <p14:creationId xmlns:p14="http://schemas.microsoft.com/office/powerpoint/2010/main" val="3485594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21ED69B2-78B7-4BFF-BB4F-A0B15C26CB51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FCE9341-E420-42BB-878C-012F8E9DEA2B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25A3BA-C9B4-4F70-B2E8-ADBFCF15A82A}"/>
              </a:ext>
            </a:extLst>
          </p:cNvPr>
          <p:cNvSpPr txBox="1"/>
          <p:nvPr/>
        </p:nvSpPr>
        <p:spPr>
          <a:xfrm>
            <a:off x="381000" y="0"/>
            <a:ext cx="11430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2200" b="1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7F3338A-EBA3-46D9-82D4-3EFD891542D4}"/>
              </a:ext>
            </a:extLst>
          </p:cNvPr>
          <p:cNvSpPr/>
          <p:nvPr/>
        </p:nvSpPr>
        <p:spPr>
          <a:xfrm>
            <a:off x="635000" y="1041400"/>
            <a:ext cx="10922000" cy="1651000"/>
          </a:xfrm>
          <a:prstGeom prst="round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B647E53-07F8-4B26-A9A8-BE14CFB97A9C}"/>
              </a:ext>
            </a:extLst>
          </p:cNvPr>
          <p:cNvSpPr/>
          <p:nvPr/>
        </p:nvSpPr>
        <p:spPr>
          <a:xfrm>
            <a:off x="635000" y="1041400"/>
            <a:ext cx="762000" cy="1651000"/>
          </a:xfrm>
          <a:prstGeom prst="rect">
            <a:avLst/>
          </a:prstGeom>
          <a:solidFill>
            <a:srgbClr val="16345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177B5AE-9E31-48BB-A400-822B53752BCD}"/>
              </a:ext>
            </a:extLst>
          </p:cNvPr>
          <p:cNvSpPr txBox="1"/>
          <p:nvPr/>
        </p:nvSpPr>
        <p:spPr>
          <a:xfrm>
            <a:off x="635000" y="1041400"/>
            <a:ext cx="762000" cy="165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3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2D231E9-2B3C-443F-A5E3-D286643C2C81}"/>
              </a:ext>
            </a:extLst>
          </p:cNvPr>
          <p:cNvSpPr txBox="1"/>
          <p:nvPr/>
        </p:nvSpPr>
        <p:spPr>
          <a:xfrm>
            <a:off x="1600200" y="1193800"/>
            <a:ext cx="9753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b="1">
                <a:solidFill>
                  <a:srgbClr val="FFFFFF"/>
                </a:solidFill>
              </a:rPr>
              <a:t>Oportunidad de Mercado Validada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BCBC66E-343B-4B94-904C-162A4AC71754}"/>
              </a:ext>
            </a:extLst>
          </p:cNvPr>
          <p:cNvSpPr txBox="1"/>
          <p:nvPr/>
        </p:nvSpPr>
        <p:spPr>
          <a:xfrm>
            <a:off x="1600200" y="1676400"/>
            <a:ext cx="97536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D4E2F4"/>
                </a:solidFill>
              </a:rPr>
              <a:t>El diagnóstico SEPTE confirma: 62% de peruanos con exceso de peso (ENDES 2024) + 94.6% con smartphone (OSIPTEL 2024) representan una oportunidad real y medible para una app de control de salud gratuita.</a:t>
            </a:r>
            <a:endParaRPr lang="es-PE" sz="1400">
              <a:solidFill>
                <a:srgbClr val="D4E2F4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84A11C2-466E-4755-9347-92AE6661958E}"/>
              </a:ext>
            </a:extLst>
          </p:cNvPr>
          <p:cNvSpPr/>
          <p:nvPr/>
        </p:nvSpPr>
        <p:spPr>
          <a:xfrm>
            <a:off x="635000" y="2908300"/>
            <a:ext cx="10922000" cy="1651000"/>
          </a:xfrm>
          <a:prstGeom prst="roundRect">
            <a:avLst/>
          </a:prstGeom>
          <a:solidFill>
            <a:srgbClr val="2C5F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CA2C83B-EF56-4D5B-9B76-B068170FE7B6}"/>
              </a:ext>
            </a:extLst>
          </p:cNvPr>
          <p:cNvSpPr/>
          <p:nvPr/>
        </p:nvSpPr>
        <p:spPr>
          <a:xfrm>
            <a:off x="635000" y="2908300"/>
            <a:ext cx="762000" cy="1651000"/>
          </a:xfrm>
          <a:prstGeom prst="rect">
            <a:avLst/>
          </a:prstGeom>
          <a:solidFill>
            <a:srgbClr val="1E48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CC4FBC-9C4E-44A8-96B7-1B062FD91D54}"/>
              </a:ext>
            </a:extLst>
          </p:cNvPr>
          <p:cNvSpPr txBox="1"/>
          <p:nvPr/>
        </p:nvSpPr>
        <p:spPr>
          <a:xfrm>
            <a:off x="635000" y="2908300"/>
            <a:ext cx="762000" cy="165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3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D28B4B5-C694-4113-990D-1E46CB993FC9}"/>
              </a:ext>
            </a:extLst>
          </p:cNvPr>
          <p:cNvSpPr txBox="1"/>
          <p:nvPr/>
        </p:nvSpPr>
        <p:spPr>
          <a:xfrm>
            <a:off x="1600200" y="3060700"/>
            <a:ext cx="9753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b="1">
                <a:solidFill>
                  <a:srgbClr val="FFFFFF"/>
                </a:solidFill>
              </a:rPr>
              <a:t>Arquitectura Técnica Robusta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F6AC769-D35A-45D9-B92C-C981394519E9}"/>
              </a:ext>
            </a:extLst>
          </p:cNvPr>
          <p:cNvSpPr txBox="1"/>
          <p:nvPr/>
        </p:nvSpPr>
        <p:spPr>
          <a:xfrm>
            <a:off x="1600200" y="3543300"/>
            <a:ext cx="97536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D4E2F4"/>
                </a:solidFill>
              </a:rPr>
              <a:t>La combinación Firebase (autenticación) + SQLite (almacenamiento local) + API REST (validación DNI) es la arquitectura adecuada para garantizar seguridad, disponibilidad offline y confiabilidad de datos.</a:t>
            </a:r>
            <a:endParaRPr lang="es-PE" sz="1400">
              <a:solidFill>
                <a:srgbClr val="D4E2F4"/>
              </a:solidFill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CF36E0B5-90E3-4F35-90BD-D04AEDB64AB8}"/>
              </a:ext>
            </a:extLst>
          </p:cNvPr>
          <p:cNvSpPr/>
          <p:nvPr/>
        </p:nvSpPr>
        <p:spPr>
          <a:xfrm>
            <a:off x="635000" y="4775200"/>
            <a:ext cx="10922000" cy="1651000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67791F3-71AB-4108-84A0-AEB92A11ADBE}"/>
              </a:ext>
            </a:extLst>
          </p:cNvPr>
          <p:cNvSpPr/>
          <p:nvPr/>
        </p:nvSpPr>
        <p:spPr>
          <a:xfrm>
            <a:off x="635000" y="4775200"/>
            <a:ext cx="762000" cy="1651000"/>
          </a:xfrm>
          <a:prstGeom prst="rect">
            <a:avLst/>
          </a:prstGeom>
          <a:solidFill>
            <a:srgbClr val="2F5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996EDEE-384B-45B4-88A9-852328971711}"/>
              </a:ext>
            </a:extLst>
          </p:cNvPr>
          <p:cNvSpPr txBox="1"/>
          <p:nvPr/>
        </p:nvSpPr>
        <p:spPr>
          <a:xfrm>
            <a:off x="635000" y="4775200"/>
            <a:ext cx="762000" cy="165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3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156BB2C-E637-45B3-85FE-55C011682944}"/>
              </a:ext>
            </a:extLst>
          </p:cNvPr>
          <p:cNvSpPr txBox="1"/>
          <p:nvPr/>
        </p:nvSpPr>
        <p:spPr>
          <a:xfrm>
            <a:off x="1600200" y="4927600"/>
            <a:ext cx="9753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b="1">
                <a:solidFill>
                  <a:srgbClr val="FFFFFF"/>
                </a:solidFill>
              </a:rPr>
              <a:t>Identidad Digital como Factor Diferenciador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E90617C-8544-431D-BFDD-B85E97287A9D}"/>
              </a:ext>
            </a:extLst>
          </p:cNvPr>
          <p:cNvSpPr txBox="1"/>
          <p:nvPr/>
        </p:nvSpPr>
        <p:spPr>
          <a:xfrm>
            <a:off x="1600200" y="5410200"/>
            <a:ext cx="97536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D4E2F4"/>
                </a:solidFill>
              </a:rPr>
              <a:t>El módulo de registro con DNI via servicio REST añade un nivel de confiabilidad que distingue a Diefit de otras apps similares, asegurando que los datos personales del usuario sean válidos y verificables.</a:t>
            </a:r>
            <a:endParaRPr lang="es-PE" sz="1400">
              <a:solidFill>
                <a:srgbClr val="D4E2F4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50ED236-A989-4893-B8A4-7E4A78594CCB}"/>
              </a:ext>
            </a:extLst>
          </p:cNvPr>
          <p:cNvSpPr/>
          <p:nvPr/>
        </p:nvSpPr>
        <p:spPr>
          <a:xfrm>
            <a:off x="10845800" y="0"/>
            <a:ext cx="1346200" cy="876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29" name="Copied Picture 29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8100"/>
            <a:ext cx="12700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727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9AA42F4-91EE-414A-B56E-553923F03CF5}"/>
              </a:ext>
            </a:extLst>
          </p:cNvPr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8CE6737-F260-4BA7-8C14-FA1FD51A9C70}"/>
              </a:ext>
            </a:extLst>
          </p:cNvPr>
          <p:cNvSpPr/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8D35C4C-2E60-47B3-AC59-7EDBF8859839}"/>
              </a:ext>
            </a:extLst>
          </p:cNvPr>
          <p:cNvSpPr txBox="1"/>
          <p:nvPr/>
        </p:nvSpPr>
        <p:spPr>
          <a:xfrm>
            <a:off x="381000" y="0"/>
            <a:ext cx="11430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2200" b="1">
                <a:solidFill>
                  <a:srgbClr val="FFFFFF"/>
                </a:solidFill>
              </a:rPr>
              <a:t>Recomendaciones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A9005FB-FD2F-4428-82B7-E0DA92CA8A7A}"/>
              </a:ext>
            </a:extLst>
          </p:cNvPr>
          <p:cNvSpPr/>
          <p:nvPr/>
        </p:nvSpPr>
        <p:spPr>
          <a:xfrm>
            <a:off x="635000" y="1041400"/>
            <a:ext cx="10922000" cy="1651000"/>
          </a:xfrm>
          <a:prstGeom prst="round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3022040-936E-4092-9309-04746EC7E90F}"/>
              </a:ext>
            </a:extLst>
          </p:cNvPr>
          <p:cNvSpPr/>
          <p:nvPr/>
        </p:nvSpPr>
        <p:spPr>
          <a:xfrm>
            <a:off x="635000" y="1041400"/>
            <a:ext cx="762000" cy="1651000"/>
          </a:xfrm>
          <a:prstGeom prst="rect">
            <a:avLst/>
          </a:prstGeom>
          <a:solidFill>
            <a:srgbClr val="16345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8EB2F71-A03E-4347-B713-CC836CC0ACBB}"/>
              </a:ext>
            </a:extLst>
          </p:cNvPr>
          <p:cNvSpPr txBox="1"/>
          <p:nvPr/>
        </p:nvSpPr>
        <p:spPr>
          <a:xfrm>
            <a:off x="635000" y="1041400"/>
            <a:ext cx="762000" cy="165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3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5EB99FC-8A78-482A-8235-73EBE76074CE}"/>
              </a:ext>
            </a:extLst>
          </p:cNvPr>
          <p:cNvSpPr txBox="1"/>
          <p:nvPr/>
        </p:nvSpPr>
        <p:spPr>
          <a:xfrm>
            <a:off x="1600200" y="1193800"/>
            <a:ext cx="9753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b="1">
                <a:solidFill>
                  <a:srgbClr val="FFFFFF"/>
                </a:solidFill>
              </a:rPr>
              <a:t>Sincronización de Datos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56A6484-A179-4CE8-B806-A6027523E852}"/>
              </a:ext>
            </a:extLst>
          </p:cNvPr>
          <p:cNvSpPr txBox="1"/>
          <p:nvPr/>
        </p:nvSpPr>
        <p:spPr>
          <a:xfrm>
            <a:off x="1600200" y="1676400"/>
            <a:ext cx="97536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D4E2F4"/>
                </a:solidFill>
              </a:rPr>
              <a:t>Implementar mecanismos de respaldo entre SQLite y backend para que el usuario no pierda su historial de peso y calorías al cambiar de dispositivo.</a:t>
            </a:r>
            <a:endParaRPr lang="es-PE" sz="1400">
              <a:solidFill>
                <a:srgbClr val="D4E2F4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DF8E1EE-521F-4153-8B62-60254A640508}"/>
              </a:ext>
            </a:extLst>
          </p:cNvPr>
          <p:cNvSpPr/>
          <p:nvPr/>
        </p:nvSpPr>
        <p:spPr>
          <a:xfrm>
            <a:off x="635000" y="2908300"/>
            <a:ext cx="10922000" cy="1651000"/>
          </a:xfrm>
          <a:prstGeom prst="roundRect">
            <a:avLst/>
          </a:prstGeom>
          <a:solidFill>
            <a:srgbClr val="2C5F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5DC7AE9-4D6C-4B1B-B19D-C4C0FFD98FBC}"/>
              </a:ext>
            </a:extLst>
          </p:cNvPr>
          <p:cNvSpPr/>
          <p:nvPr/>
        </p:nvSpPr>
        <p:spPr>
          <a:xfrm>
            <a:off x="635000" y="2908300"/>
            <a:ext cx="762000" cy="1651000"/>
          </a:xfrm>
          <a:prstGeom prst="rect">
            <a:avLst/>
          </a:prstGeom>
          <a:solidFill>
            <a:srgbClr val="1E48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874BB83-BB8C-42B2-9F95-B80193C587F7}"/>
              </a:ext>
            </a:extLst>
          </p:cNvPr>
          <p:cNvSpPr txBox="1"/>
          <p:nvPr/>
        </p:nvSpPr>
        <p:spPr>
          <a:xfrm>
            <a:off x="635000" y="2908300"/>
            <a:ext cx="762000" cy="165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3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785DF8B-015E-4B46-82A6-436D65ACC5CA}"/>
              </a:ext>
            </a:extLst>
          </p:cNvPr>
          <p:cNvSpPr txBox="1"/>
          <p:nvPr/>
        </p:nvSpPr>
        <p:spPr>
          <a:xfrm>
            <a:off x="1600200" y="3060700"/>
            <a:ext cx="9753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b="1">
                <a:solidFill>
                  <a:srgbClr val="FFFFFF"/>
                </a:solidFill>
              </a:rPr>
              <a:t>Validación del Servicio REST de DNI</a:t>
            </a:r>
            <a:endParaRPr lang="es-PE" b="1">
              <a:solidFill>
                <a:srgbClr val="FFFFFF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FB77E7C-CF3A-4F9C-98E2-C694EEE3186F}"/>
              </a:ext>
            </a:extLst>
          </p:cNvPr>
          <p:cNvSpPr txBox="1"/>
          <p:nvPr/>
        </p:nvSpPr>
        <p:spPr>
          <a:xfrm>
            <a:off x="1600200" y="3543300"/>
            <a:ext cx="97536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D4E2F4"/>
                </a:solidFill>
              </a:rPr>
              <a:t>Validar el tiempo de respuesta del servicio REST durante pruebas, ya que la experiencia de registro depende directamente de su disponibilidad y latencia.</a:t>
            </a:r>
            <a:endParaRPr lang="es-PE" sz="1400">
              <a:solidFill>
                <a:srgbClr val="D4E2F4"/>
              </a:solidFill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62DCD5ED-0D18-45DD-B421-0A31BCD26DA6}"/>
              </a:ext>
            </a:extLst>
          </p:cNvPr>
          <p:cNvSpPr/>
          <p:nvPr/>
        </p:nvSpPr>
        <p:spPr>
          <a:xfrm>
            <a:off x="635000" y="4775200"/>
            <a:ext cx="10922000" cy="1651000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D1591D6-50E4-4029-8E12-FF5318E38843}"/>
              </a:ext>
            </a:extLst>
          </p:cNvPr>
          <p:cNvSpPr/>
          <p:nvPr/>
        </p:nvSpPr>
        <p:spPr>
          <a:xfrm>
            <a:off x="635000" y="4775200"/>
            <a:ext cx="762000" cy="1651000"/>
          </a:xfrm>
          <a:prstGeom prst="rect">
            <a:avLst/>
          </a:prstGeom>
          <a:solidFill>
            <a:srgbClr val="2F5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C4E2C0B-B760-4CE0-8AC0-369E3814900A}"/>
              </a:ext>
            </a:extLst>
          </p:cNvPr>
          <p:cNvSpPr txBox="1"/>
          <p:nvPr/>
        </p:nvSpPr>
        <p:spPr>
          <a:xfrm>
            <a:off x="635000" y="4775200"/>
            <a:ext cx="762000" cy="165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PE" sz="3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0268EB7-2610-4328-A4CB-BDE1B33CDA4E}"/>
              </a:ext>
            </a:extLst>
          </p:cNvPr>
          <p:cNvSpPr txBox="1"/>
          <p:nvPr/>
        </p:nvSpPr>
        <p:spPr>
          <a:xfrm>
            <a:off x="1600200" y="4927600"/>
            <a:ext cx="9753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PE" b="1">
                <a:solidFill>
                  <a:srgbClr val="FFFFFF"/>
                </a:solidFill>
              </a:rPr>
              <a:t>Catálogo de Alimentos Temprano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1B7D257-DC4B-4BC1-915A-0D37E4EF8285}"/>
              </a:ext>
            </a:extLst>
          </p:cNvPr>
          <p:cNvSpPr txBox="1"/>
          <p:nvPr/>
        </p:nvSpPr>
        <p:spPr>
          <a:xfrm>
            <a:off x="1600200" y="5410200"/>
            <a:ext cx="97536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D4E2F4"/>
                </a:solidFill>
              </a:rPr>
              <a:t>Definir el catálogo de alimentos y su aporte calórico desde etapas tempranas del proyecto, pues su calidad determina la utilidad real del módulo de registro calórico.</a:t>
            </a:r>
            <a:endParaRPr lang="es-PE" sz="1400">
              <a:solidFill>
                <a:srgbClr val="D4E2F4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EBC3C9B-1EB4-423B-9326-476D204831A4}"/>
              </a:ext>
            </a:extLst>
          </p:cNvPr>
          <p:cNvSpPr/>
          <p:nvPr/>
        </p:nvSpPr>
        <p:spPr>
          <a:xfrm>
            <a:off x="10845800" y="0"/>
            <a:ext cx="1346200" cy="876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E"/>
          </a:p>
        </p:txBody>
      </p:sp>
      <p:pic>
        <p:nvPicPr>
          <p:cNvPr id="29" name="Copied Picture 29">
            <a:extLst>
              <a:ext uri="{FF2B5EF4-FFF2-40B4-BE49-F238E27FC236}">
                <a16:creationId xmlns:a16="http://schemas.microsoft.com/office/drawing/2014/main" id="{8CC79EDF-A385-1C3B-B392-9DAEFF04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8100"/>
            <a:ext cx="12700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30453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Override1.xml><?xml version="1.0" encoding="utf-8"?>
<a:themeOverride xmlns:a="http://schemas.openxmlformats.org/drawingml/2006/main">
  <a:clrScheme name="Sector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ector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88B2329-3459-4A30-B436-9D8ED235F009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4e492be7-4fbb-4484-9349-f20c8e0f0ba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890</Words>
  <Application>Microsoft Office PowerPoint</Application>
  <PresentationFormat>Panorámica</PresentationFormat>
  <Paragraphs>132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Century Gothic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Dacio Gonzales BK</dc:creator>
  <cp:lastModifiedBy>Dacio Gonzales BK</cp:lastModifiedBy>
  <cp:revision>3</cp:revision>
  <dcterms:created xsi:type="dcterms:W3CDTF">2026-06-23T19:51:53Z</dcterms:created>
  <dcterms:modified xsi:type="dcterms:W3CDTF">2026-06-23T21:50:53Z</dcterms:modified>
</cp:coreProperties>
</file>